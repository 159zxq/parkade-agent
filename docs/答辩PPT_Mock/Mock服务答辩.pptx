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theme/theme1.xml" ContentType="application/vnd.openxmlformats-officedocument.theme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Relationship Id="rId3" Type="http://schemas.openxmlformats.org/officeDocument/2006/relationships/custom-properties" Target="docProps/custom.xml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firstSlideNum="1">
  <p:sldMasterIdLst>
    <p:sldMasterId id="2147483648" r:id="rId0"/>
  </p:sldMasterIdLst>
  <p:notesMasterIdLst>
    <p:notesMasterId r:id="rId3"/>
  </p:notesMasterIdLst>
  <p:sldIdLst>
    <p:sldId id="256" r:id="rId1"/>
    <p:sldId id="257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4" Type="http://schemas.openxmlformats.org/officeDocument/2006/relationships/presProps" Target="presProps.xml" /><Relationship Id="rId0" Type="http://schemas.openxmlformats.org/officeDocument/2006/relationships/slideMaster" Target="slideMasters/slideMaster1.xml" /><Relationship Id="rId1" Type="http://schemas.openxmlformats.org/officeDocument/2006/relationships/slide" Target="slides/slide1.xml" /><Relationship Id="rId3" Type="http://schemas.openxmlformats.org/officeDocument/2006/relationships/notesMaster" Target="notesMasters/notesMaster1.xml" /><Relationship Id="rId2" Type="http://schemas.openxmlformats.org/officeDocument/2006/relationships/slide" Target="slides/slide2.xml" /><Relationship Id="rId5" Type="http://schemas.openxmlformats.org/officeDocument/2006/relationships/tableStyles" Target="tableStyles.xml" /><Relationship Id="rId6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 /><Relationship Id="rId0" Type="http://schemas.openxmlformats.org/officeDocument/2006/relationships/slideLayout" Target="../slideLayouts/slideLayout1.xml" 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 descr="&lt;Slide style={{ width: 1280, height: 720, background: '#FFFFFF', fontFamily: 'Source Han Sans, Microsoft YaHei, sans-serif', display: 'flex', flexDirection: 'column' }}&gt;&#10;&#10;    {/* ===== A 页眉：深蓝顶条（A3 模式） ===== */}&#10;    &lt;Box style={{ height: 64, background: '#1E4FA8', display: 'flex', flexDirection: 'row', alignItems: 'center', justifyContent: 'space-between', paddingLeft: 40, paddingRight: 40 }}&gt;&#10;        &lt;Text style={{ fontSize: 20, fontWeight: 'bold', color: '#FFFFFF', letterSpacing: 1 }}&gt;停车场管理智能体 · Mock 服务模块&lt;/Text&gt;&#10;        &lt;Text style={{ fontSize: 16, color: '#BFD3EF' }}&gt;成员B ｜ 接口总览&lt;/Text&gt;&#10;    &lt;/Box&gt;&#10;&#10;    {/* ===== B 区：标题块 y80–156 ===== */}&#10;    &lt;Box style={{ paddingLeft: 40, paddingRight: 40, paddingTop: 20, display: 'flex', flexDirection: 'column' }}&gt;&#10;        &lt;Text style={{ fontSize: 36, fontWeight: 'bold', color: '#0E3F8C' }}&gt;Mock 停车场服务：全接口总览&lt;/Text&gt;&#10;        &lt;Text style={{ fontSize: 18, color: '#4A5568', marginTop: 8 }}&gt;&#10;            真实停车场的&lt;Text style={{ fontSize: 18 }}&gt;「行为等价替身」&lt;/Text&gt;——10 个接口、4 类能力，为上游 Agent 提供可复现的数据基础&#10;        &lt;/Text&gt;&#10;    &lt;/Box&gt;&#10;&#10;    {/* ===== C 区：内容 y156–660 ===== */}&#10;    &lt;Box style={{ paddingLeft: 40, paddingRight: 40, paddingTop: 16, display: 'flex', flexDirection: 'column', gap: 14 }}&gt;&#10;&#10;        {/* 4 类能力 —— 2×2 矩阵 */}&#10;        &lt;Box style={{ display: 'flex', flexDirection: 'row', gap: 16 }}&gt;&#10;&#10;            {/* 卡1 车位管理 */}&#10;            &lt;Box style={{ flex: 1, background: '#F0F5FC', border: '1px solid #D6DCE5', borderRadius: 8, paddingLeft: 20, paddingRight: 20, paddingTop: 14, paddingBottom: 14, display: 'flex', flexDirection: 'column', gap: 8 }}&gt;&#10;                &lt;Box style={{ display: 'flex', flexDirection: 'row', alignItems: 'center', gap: 10 }}&gt;&#10;                    &lt;Box style={{ width: 30, height: 30, background: '#1E4FA8', borderRadius: 6, display: 'flex', alignItems: 'center', justifyContent: 'center' }}&gt;&#10;                        &lt;Text style={{ fontSize: 16, fontWeight: 'bold', color: '#FFFFFF' }}&gt;1&lt;/Text&gt;&#10;                    &lt;/Box&gt;&#10;                    &lt;Text style={{ fontSize: 22, fontWeight: 'bold', color: '#0E3F8C' }}&gt;车位管理&lt;/Text&gt;&#10;                &lt;/Box&gt;&#10;                &lt;Text style={{ fontSize: 15, color: '#1A2230', lineHeight: 1.5 }}&gt;&#10;                    &lt;span style={{ fontWeight: 'bold', color: '#1E4FA8' }}&gt;GET&lt;/span&gt; /lots/status　余位实时查询&lt;br /&gt;&#10;                    &lt;span style={{ fontWeight: 'bold', color: '#1E4FA8' }}&gt;POST&lt;/span&gt; /entry　　入场登记&lt;br /&gt;&#10;                    &lt;span style={{ fontWeight: 'bold', color: '#1E4FA8' }}&gt;POST&lt;/span&gt; /exit　　　出场计费&lt;br /&gt;&#10;                    &lt;span style={{ fontWeight: 'bold', color: '#1E4FA8' }}&gt;POST&lt;/span&gt; /reserve　车位预约&#10;                &lt;/Text&gt;&#10;            &lt;/Box&gt;&#10;&#10;            {/* 卡2 识别输入 */}&#10;            &lt;Box style={{ flex: 1, background: '#F0F5FC', border: '1px solid #D6DCE5', borderRadius: 8, paddingLeft: 20, paddingRight: 20, paddingTop: 14, paddingBottom: 14, display: 'flex', flexDirection: 'column', gap: 8 }}&gt;&#10;                &lt;Box style={{ display: 'flex', flexDirection: 'row', alignItems: 'center', gap: 10 }}&gt;&#10;                    &lt;Box style={{ width: 30, height: 30, background: '#1E4FA8', borderRadius: 6, display: 'flex', alignItems: 'center', justifyContent: 'center' }}&gt;&#10;                        &lt;Text style={{ fontSize: 16, fontWeight: 'bold', color: '#FFFFFF' }}&gt;2&lt;/Text&gt;&#10;                    &lt;/Box&gt;&#10;                    &lt;Text style={{ fontSize: 22, fontWeight: 'bold', color: '#0E3F8C' }}&gt;识别输入&lt;/Text&gt;&#10;                &lt;/Box&gt;&#10;                &lt;Text style={{ fontSize: 15, color: '#1A2230', lineHeight: 1.5 }}&gt;&#10;                    &lt;span style={{ fontWeight: 'bold', color: '#1E4FA8' }}&gt;GET&lt;/span&gt; /camera/{'{id}'}/capture&lt;br /&gt;&#10;                    　→ 返回 640×480 合成车牌图&lt;br /&gt;&#10;                    　→ &lt;span style={{ color: '#D9534F', fontWeight: 'bold' }}&gt;normal / blur / occluded&lt;/span&gt; 三变体&lt;br /&gt;&#10;                    　→ 供双通道识别与仲裁矩阵验证&#10;                &lt;/Text&gt;&#10;            &lt;/Box&gt;&#10;        &lt;/Box&gt;&#10;&#10;        &lt;Box style={{ display: 'flex', flexDirection: 'row', gap: 16 }}&gt;&#10;&#10;            {/* 卡3 调试支撑 */}&#10;            &lt;Box style={{ flex: 1, background: '#F0F5FC', border: '1px solid #D6DCE5', borderRadius: 8, paddingLeft: 20, paddingRight: 20, paddingTop: 14, paddingBottom: 14, display: 'flex', flexDirection: 'column', gap: 8 }}&gt;&#10;                &lt;Box style={{ display: 'flex', flexDirection: 'row', alignItems: 'center', gap: 10 }}&gt;&#10;                    &lt;Box style={{ width: 30, height: 30, background: '#1E4FA8', borderRadius: 6, display: 'flex', alignItems: 'center', justifyContent: 'center' }}&gt;&#10;                        &lt;Text style={{ fontSize: 16, fontWeight: 'bold', color: '#FFFFFF' }}&gt;3&lt;/Text&gt;&#10;                    &lt;/Box&gt;&#10;                    &lt;Text style={{ fontSize: 22, fontWeight: 'bold', color: '#0E3F8C' }}&gt;调试支撑&lt;/Text&gt;&#10;                &lt;/Box&gt;&#10;                &lt;Text style={{ fontSize: 15, color: '#1A2230', lineHeight: 1.5 }}&gt;&#10;                    &lt;span style={{ fontWeight: 'bold', color: '#1E4FA8' }}&gt;GET&lt;/span&gt; /debug/truth/{'{id}'}　真值对账&lt;br /&gt;&#10;                    &lt;span style={{ fontWeight: 'bold', color: '#1E4FA8' }}&gt;GET/POST&lt;/span&gt; /debug/time　虚拟时钟&lt;br /&gt;&#10;                    &lt;span style={{ fontWeight: 'bold', color: '#1E4FA8' }}&gt;POST&lt;/span&gt; /debug/time/reset&lt;br /&gt;&#10;                    &lt;span style={{ fontWeight: 'bold', color: '#1E4FA8' }}&gt;POST&lt;/span&gt; /debug/reset　全状态复位&#10;                &lt;/Text&gt;&#10;            &lt;/Box&gt;&#10;&#10;            {/* 卡4 统一契约 */}&#10;            &lt;Box style={{ flex: 1, background: '#0E3F8C', borderRadius: 8, paddingLeft: 20, paddingRight: 20, paddingTop: 14, paddingBottom: 14, display: 'flex', flexDirection: 'column', gap: 8 }}&gt;&#10;                &lt;Box style={{ display: 'flex', flexDirection: 'row', alignItems: 'center', gap: 10 }}&gt;&#10;                    &lt;Box style={{ width: 30, height: 30, background: '#FFFFFF', borderRadius: 6, display: 'flex', alignItems: 'center', justifyContent: 'center' }}&gt;&#10;                        &lt;Text style={{ fontSize: 16, fontWeight: 'bold', color: '#0E3F8C' }}&gt;4&lt;/Text&gt;&#10;                    &lt;/Box&gt;&#10;                    &lt;Text style={{ fontSize: 22, fontWeight: 'bold', color: '#FFFFFF' }}&gt;统一契约&lt;/Text&gt;&#10;                &lt;/Box&gt;&#10;                &lt;Text style={{ fontSize: 15, color: '#E8EFF8', lineHeight: 1.5 }}&gt;&#10;                    成功 → &lt;span style={{ fontWeight: 'bold', color: '#FFC107' }}&gt;{&quot;{ok:true, ...}&quot;}&lt;/span&gt;&lt;br /&gt;&#10;                    错误 → 400 / 404 + 标准错误码&lt;br /&gt;&#10;                    7 个错误码：&lt;span style={{ color: '#BFD3EF' }}&gt;ALREADY_INSIDE · NOT_INSIDE&lt;br /&gt;NO_FREE_SPOT · RESERVE_CONFLICT 等&lt;/span&gt;&lt;br /&gt;&#10;                    字段冻结，&lt;span style={{ fontWeight: 'bold', color: '#FFFFFF' }}&gt;上游零适配接入&lt;/span&gt;&#10;                &lt;/Text&gt;&#10;            &lt;/Box&gt;&#10;        &lt;/Box&gt;&#10;&#10;        {/* 底部结论条 */}&#10;        &lt;Box style={{ background: '#E8EFF8', borderLeft: '4px solid #1E4FA8', borderRadius: 4, paddingLeft: 16, paddingRight: 16, paddingTop: 10, paddingBottom: 10, display: 'flex', flexDirection: 'row', alignItems: 'center', gap: 12 }}&gt;&#10;            &lt;Text style={{ fontSize: 16, fontWeight: 'bold', color: '#1E4FA8' }}&gt;结论&lt;/Text&gt;&#10;            &lt;Text style={{ fontSize: 16, color: '#1A2230' }}&gt;&#10;                契约先行 + 唯一实现原则（计费走 common/pricing.py、时间走 clock.now()）→ 接口冒烟 &lt;span style={{ fontWeight: 'bold', color: '#0E3F8C' }}&gt;33/33 全绿&lt;/span&gt;&#10;            &lt;/Text&gt;&#10;        &lt;/Box&gt;&#10;    &lt;/Box&gt;&#10;&#10;    {/* ===== D 页脚 y660–700 ===== */}&#10;    &lt;Box style={{ height: 44, display: 'flex', flexDirection: 'row', alignItems: 'center', justifyContent: 'space-between', paddingLeft: 40, paddingRight: 40 }}&gt;&#10;        &lt;Text style={{ fontSize: 14, color: '#8B97A8' }}&gt;《人工智能创新开发实践》课程设计 ｜ 停车场管理智能体&lt;/Text&gt;&#10;        &lt;Text style={{ fontSize: 15, fontWeight: 'bold', color: '#1E4FA8' }}&gt;01 / 02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" name=""/>
          <p:cNvSpPr/>
          <p:nvPr/>
        </p:nvSpPr>
        <p:spPr>
          <a:xfrm rot="0" flipH="0" flipV="0">
            <a:off x="0" y="0"/>
            <a:ext cx="12192000" cy="6096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4" name="" descr="{&quot;isTemplate&quot;:true,&quot;type&quot;:&quot;text&quot;}"/>
          <p:cNvSpPr txBox="1"/>
          <p:nvPr/>
        </p:nvSpPr>
        <p:spPr>
          <a:xfrm rot="0" flipH="0" flipV="0">
            <a:off x="381000" y="190500"/>
            <a:ext cx="32670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 spc="75">
                <a:solidFill>
                  <a:srgbClr val="FFFFFF"/>
                </a:solidFill>
                <a:latin typeface="Source Han Sans"/>
                <a:ea typeface="Source Han Sans"/>
              </a:rPr>
              <a:t>停车场管理智能体</a:t>
            </a:r>
            <a:r>
              <a:rPr lang="en-US" sz="1500" b="1" spc="75">
                <a:solidFill>
                  <a:srgbClr val="FFFFFF"/>
                </a:solidFill>
                <a:latin typeface="Source Han Sans"/>
                <a:ea typeface="Source Han Sans"/>
              </a:rPr>
              <a:t xml:space="preserve"> · Mock </a:t>
            </a:r>
            <a:r>
              <a:rPr lang="zh-CN" sz="1500" b="1" spc="75">
                <a:solidFill>
                  <a:srgbClr val="FFFFFF"/>
                </a:solidFill>
                <a:latin typeface="Source Han Sans"/>
                <a:ea typeface="Source Han Sans"/>
              </a:rPr>
              <a:t>服务模块</a:t>
            </a:r>
            <a:endParaRPr/>
          </a:p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10553700" y="209550"/>
            <a:ext cx="12573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BFD3EF"/>
                </a:solidFill>
                <a:latin typeface="Source Han Sans"/>
                <a:ea typeface="Source Han Sans"/>
              </a:rPr>
              <a:t>成员</a:t>
            </a:r>
            <a:r>
              <a:rPr lang="en-US" sz="1200">
                <a:solidFill>
                  <a:srgbClr val="BFD3EF"/>
                </a:solidFill>
                <a:latin typeface="Source Han Sans"/>
                <a:ea typeface="Source Han Sans"/>
              </a:rPr>
              <a:t xml:space="preserve">B </a:t>
            </a:r>
            <a:r>
              <a:rPr lang="zh-CN" sz="1200">
                <a:solidFill>
                  <a:srgbClr val="BFD3EF"/>
                </a:solidFill>
                <a:latin typeface="Source Han Sans"/>
                <a:ea typeface="Source Han Sans"/>
              </a:rPr>
              <a:t>｜</a:t>
            </a:r>
            <a:r>
              <a:rPr lang="en-US" sz="1200">
                <a:solidFill>
                  <a:srgbClr val="BFD3EF"/>
                </a:solidFill>
                <a:latin typeface="Source Han Sans"/>
                <a:ea typeface="Source Han Sans"/>
              </a:rPr>
              <a:t xml:space="preserve"> </a:t>
            </a:r>
            <a:r>
              <a:rPr lang="zh-CN" sz="1200">
                <a:solidFill>
                  <a:srgbClr val="BFD3EF"/>
                </a:solidFill>
                <a:latin typeface="Source Han Sans"/>
                <a:ea typeface="Source Han Sans"/>
              </a:rPr>
              <a:t>接口总览</a:t>
            </a:r>
            <a:endParaRPr/>
          </a:p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381000" y="800100"/>
            <a:ext cx="114300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700" b="1">
                <a:solidFill>
                  <a:srgbClr val="0E3F8C"/>
                </a:solidFill>
                <a:latin typeface="Source Han Sans"/>
                <a:ea typeface="Source Han Sans"/>
              </a:rPr>
              <a:t xml:space="preserve">Mock </a:t>
            </a:r>
            <a:r>
              <a:rPr lang="zh-CN" sz="2700" b="1">
                <a:solidFill>
                  <a:srgbClr val="0E3F8C"/>
                </a:solidFill>
                <a:latin typeface="Source Han Sans"/>
                <a:ea typeface="Source Han Sans"/>
              </a:rPr>
              <a:t>停车场服务：全接口总览</a:t>
            </a:r>
            <a:endParaRPr/>
          </a:p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381000" y="1295400"/>
            <a:ext cx="114300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4A5568"/>
                </a:solidFill>
                <a:latin typeface="Source Han Sans"/>
                <a:ea typeface="Source Han Sans"/>
              </a:rPr>
              <a:t>真实停车场的</a:t>
            </a:r>
            <a:r>
              <a:rPr lang="zh-CN" sz="1350">
                <a:solidFill>
                  <a:srgbClr val="4A5568"/>
                </a:solidFill>
                <a:latin typeface="Source Han Sans"/>
                <a:ea typeface="Source Han Sans"/>
              </a:rPr>
              <a:t>「行为等价替身」</a:t>
            </a:r>
            <a:r>
              <a:rPr lang="en-US" sz="1350">
                <a:solidFill>
                  <a:srgbClr val="4A5568"/>
                </a:solidFill>
                <a:latin typeface="Source Han Sans"/>
                <a:ea typeface="Source Han Sans"/>
              </a:rPr>
              <a:t xml:space="preserve">——10 </a:t>
            </a:r>
            <a:r>
              <a:rPr lang="zh-CN" sz="1350">
                <a:solidFill>
                  <a:srgbClr val="4A5568"/>
                </a:solidFill>
                <a:latin typeface="Source Han Sans"/>
                <a:ea typeface="Source Han Sans"/>
              </a:rPr>
              <a:t>个接口、</a:t>
            </a:r>
            <a:r>
              <a:rPr lang="en-US" sz="1350">
                <a:solidFill>
                  <a:srgbClr val="4A5568"/>
                </a:solidFill>
                <a:latin typeface="Source Han Sans"/>
                <a:ea typeface="Source Han Sans"/>
              </a:rPr>
              <a:t xml:space="preserve">4 </a:t>
            </a:r>
            <a:r>
              <a:rPr lang="zh-CN" sz="1350">
                <a:solidFill>
                  <a:srgbClr val="4A5568"/>
                </a:solidFill>
                <a:latin typeface="Source Han Sans"/>
                <a:ea typeface="Source Han Sans"/>
              </a:rPr>
              <a:t>类能力，为上游</a:t>
            </a:r>
            <a:r>
              <a:rPr lang="en-US" sz="1350">
                <a:solidFill>
                  <a:srgbClr val="4A5568"/>
                </a:solidFill>
                <a:latin typeface="Source Han Sans"/>
                <a:ea typeface="Source Han Sans"/>
              </a:rPr>
              <a:t xml:space="preserve"> Agent </a:t>
            </a:r>
            <a:r>
              <a:rPr lang="zh-CN" sz="1350">
                <a:solidFill>
                  <a:srgbClr val="4A5568"/>
                </a:solidFill>
                <a:latin typeface="Source Han Sans"/>
                <a:ea typeface="Source Han Sans"/>
              </a:rPr>
              <a:t>提供可复现的数据基础</a:t>
            </a:r>
            <a:endParaRPr/>
          </a:p>
        </p:txBody>
      </p:sp>
      <p:sp>
        <p:nvSpPr>
          <p:cNvPr id="8" name=""/>
          <p:cNvSpPr/>
          <p:nvPr/>
        </p:nvSpPr>
        <p:spPr>
          <a:xfrm rot="0" flipH="0" flipV="0">
            <a:off x="381000" y="1657350"/>
            <a:ext cx="5638800" cy="1657350"/>
          </a:xfrm>
          <a:prstGeom prst="roundRect">
            <a:avLst>
              <a:gd name="adj" fmla="val 4598"/>
            </a:avLst>
          </a:prstGeom>
          <a:solidFill>
            <a:srgbClr val="F0F5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9" name=""/>
          <p:cNvSpPr/>
          <p:nvPr/>
        </p:nvSpPr>
        <p:spPr>
          <a:xfrm rot="0" flipH="0" flipV="0">
            <a:off x="571500" y="1790700"/>
            <a:ext cx="285750" cy="285750"/>
          </a:xfrm>
          <a:prstGeom prst="roundRect">
            <a:avLst>
              <a:gd name="adj" fmla="val 2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0" name="" descr="{&quot;isTemplate&quot;:true,&quot;type&quot;:&quot;text&quot;}"/>
          <p:cNvSpPr txBox="1"/>
          <p:nvPr/>
        </p:nvSpPr>
        <p:spPr>
          <a:xfrm rot="0" flipH="0" flipV="0">
            <a:off x="666750" y="1838325"/>
            <a:ext cx="95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Source Han Sans"/>
                <a:ea typeface="Source Han Sans"/>
              </a:rPr>
              <a:t>1</a:t>
            </a:r>
            <a:endParaRPr/>
          </a:p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952500" y="1809750"/>
            <a:ext cx="8382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E3F8C"/>
                </a:solidFill>
                <a:latin typeface="Source Han Sans"/>
                <a:ea typeface="Source Han Sans"/>
              </a:rPr>
              <a:t>车位管理</a:t>
            </a:r>
            <a:endParaRPr/>
          </a:p>
        </p:txBody>
      </p:sp>
      <p:sp>
        <p:nvSpPr>
          <p:cNvPr id="12" name="" descr="{&quot;isTemplate&quot;:true,&quot;type&quot;:&quot;text&quot;}"/>
          <p:cNvSpPr txBox="1"/>
          <p:nvPr/>
        </p:nvSpPr>
        <p:spPr>
          <a:xfrm rot="0" flipH="0" flipV="0">
            <a:off x="571500" y="2152650"/>
            <a:ext cx="5257800" cy="10287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125" b="1">
                <a:solidFill>
                  <a:srgbClr val="1E4FA8"/>
                </a:solidFill>
                <a:latin typeface="Source Han Sans"/>
                <a:ea typeface="Source Han Sans"/>
              </a:rPr>
              <a:t>GET</a:t>
            </a:r>
            <a:r>
              <a:rPr lang="en-US" sz="1125">
                <a:solidFill>
                  <a:srgbClr val="1A2230"/>
                </a:solidFill>
                <a:latin typeface="Source Han Sans"/>
                <a:ea typeface="Source Han Sans"/>
              </a:rPr>
              <a:t xml:space="preserve"> /lots/status</a:t>
            </a:r>
            <a:r>
              <a:rPr lang="zh-CN" sz="1125">
                <a:solidFill>
                  <a:srgbClr val="1A2230"/>
                </a:solidFill>
                <a:latin typeface="Source Han Sans"/>
                <a:ea typeface="Source Han Sans"/>
              </a:rPr>
              <a:t>　余位实时查询</a:t>
            </a:r>
            <a:endParaRPr/>
          </a:p>
          <a:p>
            <a:pPr>
              <a:lnSpc>
                <a:spcPct val="150000"/>
              </a:lnSpc>
            </a:pPr>
            <a:r>
              <a:rPr lang="en-US" sz="1125" b="1">
                <a:solidFill>
                  <a:srgbClr val="1E4FA8"/>
                </a:solidFill>
                <a:latin typeface="Source Han Sans"/>
                <a:ea typeface="Source Han Sans"/>
              </a:rPr>
              <a:t>POST</a:t>
            </a:r>
            <a:r>
              <a:rPr lang="en-US" sz="1125">
                <a:solidFill>
                  <a:srgbClr val="1A2230"/>
                </a:solidFill>
                <a:latin typeface="Source Han Sans"/>
                <a:ea typeface="Source Han Sans"/>
              </a:rPr>
              <a:t xml:space="preserve"> /entry</a:t>
            </a:r>
            <a:r>
              <a:rPr lang="zh-CN" sz="1125">
                <a:solidFill>
                  <a:srgbClr val="1A2230"/>
                </a:solidFill>
                <a:latin typeface="Source Han Sans"/>
                <a:ea typeface="Source Han Sans"/>
              </a:rPr>
              <a:t>　　入场登记</a:t>
            </a:r>
            <a:endParaRPr/>
          </a:p>
          <a:p>
            <a:pPr>
              <a:lnSpc>
                <a:spcPct val="150000"/>
              </a:lnSpc>
            </a:pPr>
            <a:r>
              <a:rPr lang="en-US" sz="1125" b="1">
                <a:solidFill>
                  <a:srgbClr val="1E4FA8"/>
                </a:solidFill>
                <a:latin typeface="Source Han Sans"/>
                <a:ea typeface="Source Han Sans"/>
              </a:rPr>
              <a:t>POST</a:t>
            </a:r>
            <a:r>
              <a:rPr lang="en-US" sz="1125">
                <a:solidFill>
                  <a:srgbClr val="1A2230"/>
                </a:solidFill>
                <a:latin typeface="Source Han Sans"/>
                <a:ea typeface="Source Han Sans"/>
              </a:rPr>
              <a:t xml:space="preserve"> /exit</a:t>
            </a:r>
            <a:r>
              <a:rPr lang="zh-CN" sz="1125">
                <a:solidFill>
                  <a:srgbClr val="1A2230"/>
                </a:solidFill>
                <a:latin typeface="Source Han Sans"/>
                <a:ea typeface="Source Han Sans"/>
              </a:rPr>
              <a:t>　　　出场计费</a:t>
            </a:r>
            <a:endParaRPr/>
          </a:p>
          <a:p>
            <a:pPr>
              <a:lnSpc>
                <a:spcPct val="150000"/>
              </a:lnSpc>
            </a:pPr>
            <a:r>
              <a:rPr lang="en-US" sz="1125" b="1">
                <a:solidFill>
                  <a:srgbClr val="1E4FA8"/>
                </a:solidFill>
                <a:latin typeface="Source Han Sans"/>
                <a:ea typeface="Source Han Sans"/>
              </a:rPr>
              <a:t>POST</a:t>
            </a:r>
            <a:r>
              <a:rPr lang="en-US" sz="1125">
                <a:solidFill>
                  <a:srgbClr val="1A2230"/>
                </a:solidFill>
                <a:latin typeface="Source Han Sans"/>
                <a:ea typeface="Source Han Sans"/>
              </a:rPr>
              <a:t xml:space="preserve"> /reserve</a:t>
            </a:r>
            <a:r>
              <a:rPr lang="zh-CN" sz="1125">
                <a:solidFill>
                  <a:srgbClr val="1A2230"/>
                </a:solidFill>
                <a:latin typeface="Source Han Sans"/>
                <a:ea typeface="Source Han Sans"/>
              </a:rPr>
              <a:t>　车位预约</a:t>
            </a:r>
            <a:endParaRPr/>
          </a:p>
        </p:txBody>
      </p:sp>
      <p:sp>
        <p:nvSpPr>
          <p:cNvPr id="13" name=""/>
          <p:cNvSpPr/>
          <p:nvPr/>
        </p:nvSpPr>
        <p:spPr>
          <a:xfrm rot="0" flipH="0" flipV="0">
            <a:off x="6172200" y="1657350"/>
            <a:ext cx="5638800" cy="1657350"/>
          </a:xfrm>
          <a:prstGeom prst="roundRect">
            <a:avLst>
              <a:gd name="adj" fmla="val 4598"/>
            </a:avLst>
          </a:prstGeom>
          <a:solidFill>
            <a:srgbClr val="F0F5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4" name=""/>
          <p:cNvSpPr/>
          <p:nvPr/>
        </p:nvSpPr>
        <p:spPr>
          <a:xfrm rot="0" flipH="0" flipV="0">
            <a:off x="6362700" y="1790700"/>
            <a:ext cx="285750" cy="285750"/>
          </a:xfrm>
          <a:prstGeom prst="roundRect">
            <a:avLst>
              <a:gd name="adj" fmla="val 2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6457950" y="1838325"/>
            <a:ext cx="95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Source Han Sans"/>
                <a:ea typeface="Source Han Sans"/>
              </a:rPr>
              <a:t>2</a:t>
            </a:r>
            <a:endParaRPr/>
          </a:p>
        </p:txBody>
      </p:sp>
      <p:sp>
        <p:nvSpPr>
          <p:cNvPr id="16" name="" descr="{&quot;isTemplate&quot;:true,&quot;type&quot;:&quot;text&quot;}"/>
          <p:cNvSpPr txBox="1"/>
          <p:nvPr/>
        </p:nvSpPr>
        <p:spPr>
          <a:xfrm rot="0" flipH="0" flipV="0">
            <a:off x="6743700" y="1809750"/>
            <a:ext cx="8382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E3F8C"/>
                </a:solidFill>
                <a:latin typeface="Source Han Sans"/>
                <a:ea typeface="Source Han Sans"/>
              </a:rPr>
              <a:t>识别输入</a:t>
            </a:r>
            <a:endParaRPr/>
          </a:p>
        </p:txBody>
      </p:sp>
      <p:sp>
        <p:nvSpPr>
          <p:cNvPr id="17" name="" descr="{&quot;isTemplate&quot;:true,&quot;type&quot;:&quot;text&quot;}"/>
          <p:cNvSpPr txBox="1"/>
          <p:nvPr/>
        </p:nvSpPr>
        <p:spPr>
          <a:xfrm rot="0" flipH="0" flipV="0">
            <a:off x="6362700" y="2152650"/>
            <a:ext cx="5257800" cy="10287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125" b="1">
                <a:solidFill>
                  <a:srgbClr val="1E4FA8"/>
                </a:solidFill>
                <a:latin typeface="Source Han Sans"/>
                <a:ea typeface="Source Han Sans"/>
              </a:rPr>
              <a:t>GET</a:t>
            </a:r>
            <a:r>
              <a:rPr lang="en-US" sz="1125">
                <a:solidFill>
                  <a:srgbClr val="1A2230"/>
                </a:solidFill>
                <a:latin typeface="Source Han Sans"/>
                <a:ea typeface="Source Han Sans"/>
              </a:rPr>
              <a:t xml:space="preserve"> /camera/</a:t>
            </a:r>
            <a:r>
              <a:rPr lang="en-US" sz="1125">
                <a:solidFill>
                  <a:srgbClr val="1A2230"/>
                </a:solidFill>
                <a:latin typeface="Source Han Sans"/>
                <a:ea typeface="Source Han Sans"/>
              </a:rPr>
              <a:t>{id}</a:t>
            </a:r>
            <a:r>
              <a:rPr lang="en-US" sz="1125">
                <a:solidFill>
                  <a:srgbClr val="1A2230"/>
                </a:solidFill>
                <a:latin typeface="Source Han Sans"/>
                <a:ea typeface="Source Han Sans"/>
              </a:rPr>
              <a:t>/capture</a:t>
            </a:r>
            <a:endParaRPr/>
          </a:p>
          <a:p>
            <a:pPr>
              <a:lnSpc>
                <a:spcPct val="150000"/>
              </a:lnSpc>
            </a:pPr>
            <a:r>
              <a:rPr lang="zh-CN" sz="1125">
                <a:solidFill>
                  <a:srgbClr val="1A2230"/>
                </a:solidFill>
                <a:latin typeface="Source Han Sans"/>
                <a:ea typeface="Source Han Sans"/>
              </a:rPr>
              <a:t>　→</a:t>
            </a:r>
            <a:r>
              <a:rPr lang="en-US" sz="1125">
                <a:solidFill>
                  <a:srgbClr val="1A2230"/>
                </a:solidFill>
                <a:latin typeface="Source Han Sans"/>
                <a:ea typeface="Source Han Sans"/>
              </a:rPr>
              <a:t xml:space="preserve"> </a:t>
            </a:r>
            <a:r>
              <a:rPr lang="zh-CN" sz="1125">
                <a:solidFill>
                  <a:srgbClr val="1A2230"/>
                </a:solidFill>
                <a:latin typeface="Source Han Sans"/>
                <a:ea typeface="Source Han Sans"/>
              </a:rPr>
              <a:t>返回</a:t>
            </a:r>
            <a:r>
              <a:rPr lang="en-US" sz="1125">
                <a:solidFill>
                  <a:srgbClr val="1A2230"/>
                </a:solidFill>
                <a:latin typeface="Source Han Sans"/>
                <a:ea typeface="Source Han Sans"/>
              </a:rPr>
              <a:t xml:space="preserve"> 640×480 </a:t>
            </a:r>
            <a:r>
              <a:rPr lang="zh-CN" sz="1125">
                <a:solidFill>
                  <a:srgbClr val="1A2230"/>
                </a:solidFill>
                <a:latin typeface="Source Han Sans"/>
                <a:ea typeface="Source Han Sans"/>
              </a:rPr>
              <a:t>合成车牌图</a:t>
            </a:r>
            <a:endParaRPr/>
          </a:p>
          <a:p>
            <a:pPr>
              <a:lnSpc>
                <a:spcPct val="150000"/>
              </a:lnSpc>
            </a:pPr>
            <a:r>
              <a:rPr lang="zh-CN" sz="1125">
                <a:solidFill>
                  <a:srgbClr val="1A2230"/>
                </a:solidFill>
                <a:latin typeface="Source Han Sans"/>
                <a:ea typeface="Source Han Sans"/>
              </a:rPr>
              <a:t>　→</a:t>
            </a:r>
            <a:r>
              <a:rPr lang="en-US" sz="1125">
                <a:solidFill>
                  <a:srgbClr val="1A2230"/>
                </a:solidFill>
                <a:latin typeface="Source Han Sans"/>
                <a:ea typeface="Source Han Sans"/>
              </a:rPr>
              <a:t xml:space="preserve"> </a:t>
            </a:r>
            <a:r>
              <a:rPr lang="en-US" sz="1125" b="1">
                <a:solidFill>
                  <a:srgbClr val="D9534F"/>
                </a:solidFill>
                <a:latin typeface="Source Han Sans"/>
                <a:ea typeface="Source Han Sans"/>
              </a:rPr>
              <a:t>normal / blur / occluded</a:t>
            </a:r>
            <a:r>
              <a:rPr lang="en-US" sz="1125">
                <a:solidFill>
                  <a:srgbClr val="1A2230"/>
                </a:solidFill>
                <a:latin typeface="Source Han Sans"/>
                <a:ea typeface="Source Han Sans"/>
              </a:rPr>
              <a:t xml:space="preserve"> </a:t>
            </a:r>
            <a:r>
              <a:rPr lang="zh-CN" sz="1125">
                <a:solidFill>
                  <a:srgbClr val="1A2230"/>
                </a:solidFill>
                <a:latin typeface="Source Han Sans"/>
                <a:ea typeface="Source Han Sans"/>
              </a:rPr>
              <a:t>三变体</a:t>
            </a:r>
            <a:endParaRPr/>
          </a:p>
          <a:p>
            <a:pPr>
              <a:lnSpc>
                <a:spcPct val="150000"/>
              </a:lnSpc>
            </a:pPr>
            <a:r>
              <a:rPr lang="zh-CN" sz="1125">
                <a:solidFill>
                  <a:srgbClr val="1A2230"/>
                </a:solidFill>
                <a:latin typeface="Source Han Sans"/>
                <a:ea typeface="Source Han Sans"/>
              </a:rPr>
              <a:t>　→</a:t>
            </a:r>
            <a:r>
              <a:rPr lang="en-US" sz="1125">
                <a:solidFill>
                  <a:srgbClr val="1A2230"/>
                </a:solidFill>
                <a:latin typeface="Source Han Sans"/>
                <a:ea typeface="Source Han Sans"/>
              </a:rPr>
              <a:t xml:space="preserve"> </a:t>
            </a:r>
            <a:r>
              <a:rPr lang="zh-CN" sz="1125">
                <a:solidFill>
                  <a:srgbClr val="1A2230"/>
                </a:solidFill>
                <a:latin typeface="Source Han Sans"/>
                <a:ea typeface="Source Han Sans"/>
              </a:rPr>
              <a:t>供双通道识别与仲裁矩阵验证</a:t>
            </a:r>
            <a:endParaRPr/>
          </a:p>
        </p:txBody>
      </p:sp>
      <p:sp>
        <p:nvSpPr>
          <p:cNvPr id="18" name=""/>
          <p:cNvSpPr/>
          <p:nvPr/>
        </p:nvSpPr>
        <p:spPr>
          <a:xfrm rot="0" flipH="0" flipV="0">
            <a:off x="381000" y="3448050"/>
            <a:ext cx="5638800" cy="1914525"/>
          </a:xfrm>
          <a:prstGeom prst="roundRect">
            <a:avLst>
              <a:gd name="adj" fmla="val 3980"/>
            </a:avLst>
          </a:prstGeom>
          <a:solidFill>
            <a:srgbClr val="F0F5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9" name=""/>
          <p:cNvSpPr/>
          <p:nvPr/>
        </p:nvSpPr>
        <p:spPr>
          <a:xfrm rot="0" flipH="0" flipV="0">
            <a:off x="571500" y="3581400"/>
            <a:ext cx="285750" cy="285750"/>
          </a:xfrm>
          <a:prstGeom prst="roundRect">
            <a:avLst>
              <a:gd name="adj" fmla="val 2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666750" y="3629025"/>
            <a:ext cx="95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Source Han Sans"/>
                <a:ea typeface="Source Han Sans"/>
              </a:rPr>
              <a:t>3</a:t>
            </a:r>
            <a:endParaRPr/>
          </a:p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952500" y="3600450"/>
            <a:ext cx="8382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E3F8C"/>
                </a:solidFill>
                <a:latin typeface="Source Han Sans"/>
                <a:ea typeface="Source Han Sans"/>
              </a:rPr>
              <a:t>调试支撑</a:t>
            </a:r>
            <a:endParaRPr/>
          </a:p>
        </p:txBody>
      </p:sp>
      <p:sp>
        <p:nvSpPr>
          <p:cNvPr id="22" name="" descr="{&quot;isTemplate&quot;:true,&quot;type&quot;:&quot;text&quot;}"/>
          <p:cNvSpPr txBox="1"/>
          <p:nvPr/>
        </p:nvSpPr>
        <p:spPr>
          <a:xfrm rot="0" flipH="0" flipV="0">
            <a:off x="571500" y="3943350"/>
            <a:ext cx="5257800" cy="10287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125" b="1">
                <a:solidFill>
                  <a:srgbClr val="1E4FA8"/>
                </a:solidFill>
                <a:latin typeface="Source Han Sans"/>
                <a:ea typeface="Source Han Sans"/>
              </a:rPr>
              <a:t>GET</a:t>
            </a:r>
            <a:r>
              <a:rPr lang="en-US" sz="1125">
                <a:solidFill>
                  <a:srgbClr val="1A2230"/>
                </a:solidFill>
                <a:latin typeface="Source Han Sans"/>
                <a:ea typeface="Source Han Sans"/>
              </a:rPr>
              <a:t xml:space="preserve"> /debug/truth/</a:t>
            </a:r>
            <a:r>
              <a:rPr lang="en-US" sz="1125">
                <a:solidFill>
                  <a:srgbClr val="1A2230"/>
                </a:solidFill>
                <a:latin typeface="Source Han Sans"/>
                <a:ea typeface="Source Han Sans"/>
              </a:rPr>
              <a:t>{id}</a:t>
            </a:r>
            <a:r>
              <a:rPr lang="zh-CN" sz="1125">
                <a:solidFill>
                  <a:srgbClr val="1A2230"/>
                </a:solidFill>
                <a:latin typeface="Source Han Sans"/>
                <a:ea typeface="Source Han Sans"/>
              </a:rPr>
              <a:t>　真值对账</a:t>
            </a:r>
            <a:endParaRPr/>
          </a:p>
          <a:p>
            <a:pPr>
              <a:lnSpc>
                <a:spcPct val="150000"/>
              </a:lnSpc>
            </a:pPr>
            <a:r>
              <a:rPr lang="en-US" sz="1125" b="1">
                <a:solidFill>
                  <a:srgbClr val="1E4FA8"/>
                </a:solidFill>
                <a:latin typeface="Source Han Sans"/>
                <a:ea typeface="Source Han Sans"/>
              </a:rPr>
              <a:t>GET/POST</a:t>
            </a:r>
            <a:r>
              <a:rPr lang="en-US" sz="1125">
                <a:solidFill>
                  <a:srgbClr val="1A2230"/>
                </a:solidFill>
                <a:latin typeface="Source Han Sans"/>
                <a:ea typeface="Source Han Sans"/>
              </a:rPr>
              <a:t xml:space="preserve"> /debug/time</a:t>
            </a:r>
            <a:r>
              <a:rPr lang="zh-CN" sz="1125">
                <a:solidFill>
                  <a:srgbClr val="1A2230"/>
                </a:solidFill>
                <a:latin typeface="Source Han Sans"/>
                <a:ea typeface="Source Han Sans"/>
              </a:rPr>
              <a:t>　虚拟时钟</a:t>
            </a:r>
            <a:endParaRPr/>
          </a:p>
          <a:p>
            <a:pPr>
              <a:lnSpc>
                <a:spcPct val="150000"/>
              </a:lnSpc>
            </a:pPr>
            <a:r>
              <a:rPr lang="en-US" sz="1125" b="1">
                <a:solidFill>
                  <a:srgbClr val="1E4FA8"/>
                </a:solidFill>
                <a:latin typeface="Source Han Sans"/>
                <a:ea typeface="Source Han Sans"/>
              </a:rPr>
              <a:t>POST</a:t>
            </a:r>
            <a:r>
              <a:rPr lang="en-US" sz="1125">
                <a:solidFill>
                  <a:srgbClr val="1A2230"/>
                </a:solidFill>
                <a:latin typeface="Source Han Sans"/>
                <a:ea typeface="Source Han Sans"/>
              </a:rPr>
              <a:t xml:space="preserve"> /debug/time/reset</a:t>
            </a:r>
            <a:endParaRPr/>
          </a:p>
          <a:p>
            <a:pPr>
              <a:lnSpc>
                <a:spcPct val="150000"/>
              </a:lnSpc>
            </a:pPr>
            <a:r>
              <a:rPr lang="en-US" sz="1125" b="1">
                <a:solidFill>
                  <a:srgbClr val="1E4FA8"/>
                </a:solidFill>
                <a:latin typeface="Source Han Sans"/>
                <a:ea typeface="Source Han Sans"/>
              </a:rPr>
              <a:t>POST</a:t>
            </a:r>
            <a:r>
              <a:rPr lang="en-US" sz="1125">
                <a:solidFill>
                  <a:srgbClr val="1A2230"/>
                </a:solidFill>
                <a:latin typeface="Source Han Sans"/>
                <a:ea typeface="Source Han Sans"/>
              </a:rPr>
              <a:t xml:space="preserve"> /debug/reset</a:t>
            </a:r>
            <a:r>
              <a:rPr lang="zh-CN" sz="1125">
                <a:solidFill>
                  <a:srgbClr val="1A2230"/>
                </a:solidFill>
                <a:latin typeface="Source Han Sans"/>
                <a:ea typeface="Source Han Sans"/>
              </a:rPr>
              <a:t>　全状态复位</a:t>
            </a:r>
            <a:endParaRPr/>
          </a:p>
        </p:txBody>
      </p:sp>
      <p:sp>
        <p:nvSpPr>
          <p:cNvPr id="23" name=""/>
          <p:cNvSpPr/>
          <p:nvPr/>
        </p:nvSpPr>
        <p:spPr>
          <a:xfrm rot="0" flipH="0" flipV="0">
            <a:off x="6172200" y="3448050"/>
            <a:ext cx="5638800" cy="1914525"/>
          </a:xfrm>
          <a:prstGeom prst="roundRect">
            <a:avLst>
              <a:gd name="adj" fmla="val 3980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24" name=""/>
          <p:cNvSpPr/>
          <p:nvPr/>
        </p:nvSpPr>
        <p:spPr>
          <a:xfrm rot="0" flipH="0" flipV="0">
            <a:off x="6362700" y="3581400"/>
            <a:ext cx="285750" cy="28575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5" name="" descr="{&quot;isTemplate&quot;:true,&quot;type&quot;:&quot;text&quot;}"/>
          <p:cNvSpPr txBox="1"/>
          <p:nvPr/>
        </p:nvSpPr>
        <p:spPr>
          <a:xfrm rot="0" flipH="0" flipV="0">
            <a:off x="6457950" y="3629025"/>
            <a:ext cx="95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0E3F8C"/>
                </a:solidFill>
                <a:latin typeface="Source Han Sans"/>
                <a:ea typeface="Source Han Sans"/>
              </a:rPr>
              <a:t>4</a:t>
            </a:r>
            <a:endParaRPr/>
          </a:p>
        </p:txBody>
      </p:sp>
      <p:sp>
        <p:nvSpPr>
          <p:cNvPr id="26" name="" descr="{&quot;isTemplate&quot;:true,&quot;type&quot;:&quot;text&quot;}"/>
          <p:cNvSpPr txBox="1"/>
          <p:nvPr/>
        </p:nvSpPr>
        <p:spPr>
          <a:xfrm rot="0" flipH="0" flipV="0">
            <a:off x="6743700" y="3600450"/>
            <a:ext cx="8382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FFFFF"/>
                </a:solidFill>
                <a:latin typeface="Source Han Sans"/>
                <a:ea typeface="Source Han Sans"/>
              </a:rPr>
              <a:t>统一契约</a:t>
            </a:r>
            <a:endParaRPr/>
          </a:p>
        </p:txBody>
      </p:sp>
      <p:sp>
        <p:nvSpPr>
          <p:cNvPr id="27" name="" descr="{&quot;isTemplate&quot;:true,&quot;type&quot;:&quot;text&quot;}"/>
          <p:cNvSpPr txBox="1"/>
          <p:nvPr/>
        </p:nvSpPr>
        <p:spPr>
          <a:xfrm rot="0" flipH="0" flipV="0">
            <a:off x="6362700" y="3943350"/>
            <a:ext cx="5257800" cy="12858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E8EFF8"/>
                </a:solidFill>
                <a:latin typeface="Source Han Sans"/>
                <a:ea typeface="Source Han Sans"/>
              </a:rPr>
              <a:t>成功</a:t>
            </a:r>
            <a:r>
              <a:rPr lang="en-US" sz="1125">
                <a:solidFill>
                  <a:srgbClr val="E8EFF8"/>
                </a:solidFill>
                <a:latin typeface="Source Han Sans"/>
                <a:ea typeface="Source Han Sans"/>
              </a:rPr>
              <a:t xml:space="preserve"> → </a:t>
            </a:r>
            <a:r>
              <a:rPr lang="en-US" sz="1125" b="1">
                <a:solidFill>
                  <a:srgbClr val="FFC107"/>
                </a:solidFill>
                <a:latin typeface="Source Han Sans"/>
                <a:ea typeface="Source Han Sans"/>
              </a:rPr>
              <a:t>{ok:true, ...}</a:t>
            </a:r>
            <a:endParaRPr/>
          </a:p>
          <a:p>
            <a:pPr>
              <a:lnSpc>
                <a:spcPct val="150000"/>
              </a:lnSpc>
            </a:pPr>
            <a:r>
              <a:rPr lang="zh-CN" sz="1125">
                <a:solidFill>
                  <a:srgbClr val="E8EFF8"/>
                </a:solidFill>
                <a:latin typeface="Source Han Sans"/>
                <a:ea typeface="Source Han Sans"/>
              </a:rPr>
              <a:t>错误</a:t>
            </a:r>
            <a:r>
              <a:rPr lang="en-US" sz="1125">
                <a:solidFill>
                  <a:srgbClr val="E8EFF8"/>
                </a:solidFill>
                <a:latin typeface="Source Han Sans"/>
                <a:ea typeface="Source Han Sans"/>
              </a:rPr>
              <a:t xml:space="preserve"> → 400 / 404 + </a:t>
            </a:r>
            <a:r>
              <a:rPr lang="zh-CN" sz="1125">
                <a:solidFill>
                  <a:srgbClr val="E8EFF8"/>
                </a:solidFill>
                <a:latin typeface="Source Han Sans"/>
                <a:ea typeface="Source Han Sans"/>
              </a:rPr>
              <a:t>标准错误码</a:t>
            </a:r>
            <a:endParaRPr/>
          </a:p>
          <a:p>
            <a:pPr>
              <a:lnSpc>
                <a:spcPct val="150000"/>
              </a:lnSpc>
            </a:pPr>
            <a:r>
              <a:rPr lang="en-US" sz="1125">
                <a:solidFill>
                  <a:srgbClr val="E8EFF8"/>
                </a:solidFill>
                <a:latin typeface="Source Han Sans"/>
                <a:ea typeface="Source Han Sans"/>
              </a:rPr>
              <a:t xml:space="preserve">7 </a:t>
            </a:r>
            <a:r>
              <a:rPr lang="zh-CN" sz="1125">
                <a:solidFill>
                  <a:srgbClr val="E8EFF8"/>
                </a:solidFill>
                <a:latin typeface="Source Han Sans"/>
                <a:ea typeface="Source Han Sans"/>
              </a:rPr>
              <a:t>个错误码：</a:t>
            </a:r>
            <a:r>
              <a:rPr lang="en-US" sz="1125">
                <a:solidFill>
                  <a:srgbClr val="BFD3EF"/>
                </a:solidFill>
                <a:latin typeface="Source Han Sans"/>
                <a:ea typeface="Source Han Sans"/>
              </a:rPr>
              <a:t>ALREADY_INSIDE · NOT_INSIDE</a:t>
            </a:r>
            <a:r>
              <a:rPr sz="1125">
                <a:solidFill>
                  <a:srgbClr val="BFD3EF"/>
                </a:solidFill>
                <a:latin typeface="Source Han Sans"/>
                <a:ea typeface="Source Han Sans"/>
              </a:rPr>
              <a:t xml:space="preserve">
</a:t>
            </a:r>
            <a:r>
              <a:rPr lang="en-US" sz="1125">
                <a:solidFill>
                  <a:srgbClr val="BFD3EF"/>
                </a:solidFill>
                <a:latin typeface="Source Han Sans"/>
                <a:ea typeface="Source Han Sans"/>
              </a:rPr>
              <a:t xml:space="preserve">NO_FREE_SPOT · RESERVE_CONFLICT </a:t>
            </a:r>
            <a:r>
              <a:rPr lang="zh-CN" sz="1125">
                <a:solidFill>
                  <a:srgbClr val="BFD3EF"/>
                </a:solidFill>
                <a:latin typeface="Source Han Sans"/>
                <a:ea typeface="Source Han Sans"/>
              </a:rPr>
              <a:t>等</a:t>
            </a:r>
            <a:endParaRPr/>
          </a:p>
          <a:p>
            <a:pPr>
              <a:lnSpc>
                <a:spcPct val="150000"/>
              </a:lnSpc>
            </a:pPr>
            <a:r>
              <a:rPr lang="zh-CN" sz="1125">
                <a:solidFill>
                  <a:srgbClr val="E8EFF8"/>
                </a:solidFill>
                <a:latin typeface="Source Han Sans"/>
                <a:ea typeface="Source Han Sans"/>
              </a:rPr>
              <a:t>字段冻结，</a:t>
            </a:r>
            <a:r>
              <a:rPr lang="zh-CN" sz="1125" b="1">
                <a:solidFill>
                  <a:srgbClr val="FFFFFF"/>
                </a:solidFill>
                <a:latin typeface="Source Han Sans"/>
                <a:ea typeface="Source Han Sans"/>
              </a:rPr>
              <a:t>上游零适配接入</a:t>
            </a:r>
            <a:endParaRPr/>
          </a:p>
        </p:txBody>
      </p:sp>
      <p:sp>
        <p:nvSpPr>
          <p:cNvPr id="28" name=""/>
          <p:cNvSpPr/>
          <p:nvPr/>
        </p:nvSpPr>
        <p:spPr>
          <a:xfrm rot="0" flipH="0" flipV="0">
            <a:off x="419100" y="5495925"/>
            <a:ext cx="11430000" cy="381000"/>
          </a:xfrm>
          <a:prstGeom prst="roundRect">
            <a:avLst>
              <a:gd name="adj" fmla="val 10000"/>
            </a:avLst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29" name=""/>
          <p:cNvSpPr/>
          <p:nvPr/>
        </p:nvSpPr>
        <p:spPr>
          <a:xfrm rot="0" flipH="0" flipV="0">
            <a:off x="419100" y="5495925"/>
            <a:ext cx="11430000" cy="381000"/>
          </a:xfrm>
          <a:custGeom>
            <a:pathLst>
              <a:path w="1200" h="40">
                <a:moveTo>
                  <a:pt x="4" y="40"/>
                </a:moveTo>
                <a:cubicBezTo>
                  <a:pt x="2" y="40"/>
                  <a:pt x="0" y="38"/>
                  <a:pt x="0" y="36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40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30" name="" descr="{&quot;isTemplate&quot;:true,&quot;type&quot;:&quot;text&quot;}"/>
          <p:cNvSpPr txBox="1"/>
          <p:nvPr/>
        </p:nvSpPr>
        <p:spPr>
          <a:xfrm rot="0" flipH="0" flipV="0">
            <a:off x="571500" y="5591175"/>
            <a:ext cx="304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E4FA8"/>
                </a:solidFill>
                <a:latin typeface="Source Han Sans"/>
                <a:ea typeface="Source Han Sans"/>
              </a:rPr>
              <a:t>结论</a:t>
            </a:r>
            <a:endParaRPr/>
          </a:p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990600" y="5591175"/>
            <a:ext cx="71056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1A2230"/>
                </a:solidFill>
                <a:latin typeface="Source Han Sans"/>
                <a:ea typeface="Source Han Sans"/>
              </a:rPr>
              <a:t>契约先行</a:t>
            </a:r>
            <a:r>
              <a:rPr lang="en-US" sz="1200">
                <a:solidFill>
                  <a:srgbClr val="1A2230"/>
                </a:solidFill>
                <a:latin typeface="Source Han Sans"/>
                <a:ea typeface="Source Han Sans"/>
              </a:rPr>
              <a:t xml:space="preserve"> + </a:t>
            </a:r>
            <a:r>
              <a:rPr lang="zh-CN" sz="1200">
                <a:solidFill>
                  <a:srgbClr val="1A2230"/>
                </a:solidFill>
                <a:latin typeface="Source Han Sans"/>
                <a:ea typeface="Source Han Sans"/>
              </a:rPr>
              <a:t>唯一实现原则（计费走</a:t>
            </a:r>
            <a:r>
              <a:rPr lang="en-US" sz="1200">
                <a:solidFill>
                  <a:srgbClr val="1A2230"/>
                </a:solidFill>
                <a:latin typeface="Source Han Sans"/>
                <a:ea typeface="Source Han Sans"/>
              </a:rPr>
              <a:t xml:space="preserve"> common/pricing.py</a:t>
            </a:r>
            <a:r>
              <a:rPr lang="zh-CN" sz="1200">
                <a:solidFill>
                  <a:srgbClr val="1A2230"/>
                </a:solidFill>
                <a:latin typeface="Source Han Sans"/>
                <a:ea typeface="Source Han Sans"/>
              </a:rPr>
              <a:t>、时间走</a:t>
            </a:r>
            <a:r>
              <a:rPr lang="en-US" sz="1200">
                <a:solidFill>
                  <a:srgbClr val="1A2230"/>
                </a:solidFill>
                <a:latin typeface="Source Han Sans"/>
                <a:ea typeface="Source Han Sans"/>
              </a:rPr>
              <a:t xml:space="preserve"> clock.now()</a:t>
            </a:r>
            <a:r>
              <a:rPr lang="zh-CN" sz="1200">
                <a:solidFill>
                  <a:srgbClr val="1A2230"/>
                </a:solidFill>
                <a:latin typeface="Source Han Sans"/>
                <a:ea typeface="Source Han Sans"/>
              </a:rPr>
              <a:t>）→</a:t>
            </a:r>
            <a:r>
              <a:rPr lang="en-US" sz="1200">
                <a:solidFill>
                  <a:srgbClr val="1A2230"/>
                </a:solidFill>
                <a:latin typeface="Source Han Sans"/>
                <a:ea typeface="Source Han Sans"/>
              </a:rPr>
              <a:t xml:space="preserve"> </a:t>
            </a:r>
            <a:r>
              <a:rPr lang="zh-CN" sz="1200">
                <a:solidFill>
                  <a:srgbClr val="1A2230"/>
                </a:solidFill>
                <a:latin typeface="Source Han Sans"/>
                <a:ea typeface="Source Han Sans"/>
              </a:rPr>
              <a:t>接口冒烟</a:t>
            </a:r>
            <a:r>
              <a:rPr lang="en-US" sz="1200">
                <a:solidFill>
                  <a:srgbClr val="1A2230"/>
                </a:solidFill>
                <a:latin typeface="Source Han Sans"/>
                <a:ea typeface="Source Han Sans"/>
              </a:rPr>
              <a:t xml:space="preserve"> </a:t>
            </a:r>
            <a:r>
              <a:rPr lang="en-US" sz="1200" b="1">
                <a:solidFill>
                  <a:srgbClr val="0E3F8C"/>
                </a:solidFill>
                <a:latin typeface="Source Han Sans"/>
                <a:ea typeface="Source Han Sans"/>
              </a:rPr>
              <a:t xml:space="preserve">33/33 </a:t>
            </a:r>
            <a:r>
              <a:rPr lang="zh-CN" sz="1200" b="1">
                <a:solidFill>
                  <a:srgbClr val="0E3F8C"/>
                </a:solidFill>
                <a:latin typeface="Source Han Sans"/>
                <a:ea typeface="Source Han Sans"/>
              </a:rPr>
              <a:t>全绿</a:t>
            </a:r>
            <a:endParaRPr/>
          </a:p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381000" y="6010275"/>
            <a:ext cx="3419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Source Han Sans"/>
                <a:ea typeface="Source Han Sans"/>
              </a:rPr>
              <a:t>《人工智能创新开发实践》课程设计</a:t>
            </a:r>
            <a:r>
              <a:rPr lang="en-US" sz="1050">
                <a:solidFill>
                  <a:srgbClr val="8B97A8"/>
                </a:solidFill>
                <a:latin typeface="Source Han Sans"/>
                <a:ea typeface="Source Han Sans"/>
              </a:rPr>
              <a:t xml:space="preserve"> </a:t>
            </a:r>
            <a:r>
              <a:rPr lang="zh-CN" sz="1050">
                <a:solidFill>
                  <a:srgbClr val="8B97A8"/>
                </a:solidFill>
                <a:latin typeface="Source Han Sans"/>
                <a:ea typeface="Source Han Sans"/>
              </a:rPr>
              <a:t>｜</a:t>
            </a:r>
            <a:r>
              <a:rPr lang="en-US" sz="1050">
                <a:solidFill>
                  <a:srgbClr val="8B97A8"/>
                </a:solidFill>
                <a:latin typeface="Source Han Sans"/>
                <a:ea typeface="Source Han Sans"/>
              </a:rPr>
              <a:t xml:space="preserve"> </a:t>
            </a:r>
            <a:r>
              <a:rPr lang="zh-CN" sz="1050">
                <a:solidFill>
                  <a:srgbClr val="8B97A8"/>
                </a:solidFill>
                <a:latin typeface="Source Han Sans"/>
                <a:ea typeface="Source Han Sans"/>
              </a:rPr>
              <a:t>停车场管理智能体</a:t>
            </a:r>
            <a:endParaRPr/>
          </a:p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11296650" y="6000750"/>
            <a:ext cx="5143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E4FA8"/>
                </a:solidFill>
                <a:latin typeface="Source Han Sans"/>
                <a:ea typeface="Source Han Sans"/>
              </a:rPr>
              <a:t>01 / 02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34" name="" descr="&lt;Slide style={{ width: 1280, height: 720, background: '#FFFFFF', fontFamily: 'Source Han Sans, Microsoft YaHei, sans-serif', display: 'flex', flexDirection: 'column' }}&gt;&#10;&#10;    {/* ===== A 页眉：深蓝顶条 ===== */}&#10;    &lt;Box style={{ height: 64, background: '#1E4FA8', display: 'flex', flexDirection: 'row', alignItems: 'center', justifyContent: 'space-between', paddingLeft: 40, paddingRight: 40 }}&gt;&#10;        &lt;Text style={{ fontSize: 20, fontWeight: 'bold', color: '#FFFFFF', letterSpacing: 1 }}&gt;停车场管理智能体 · Mock 服务模块&lt;/Text&gt;&#10;        &lt;Text style={{ fontSize: 16, color: '#BFD3EF' }}&gt;成员B ｜ 技术亮点&lt;/Text&gt;&#10;    &lt;/Box&gt;&#10;&#10;    {/* ===== B 区：标题块 ===== */}&#10;    &lt;Box style={{ paddingLeft: 40, paddingRight: 40, paddingTop: 20, display: 'flex', flexDirection: 'column' }}&gt;&#10;        &lt;Text style={{ fontSize: 36, fontWeight: 'bold', color: '#0E3F8C' }}&gt;虚拟时钟：让计费演示成立&lt;/Text&gt;&#10;        &lt;Text style={{ fontSize: 18, color: '#4A5568', marginTop: 8 }}&gt;&#10;            计费演示要「停 2 小时收 12 元」，现场不可能真等——用&lt;Text style={{ fontSize: 18 }}&gt;时间注入&lt;/Text&gt;解耦「计费逻辑」与「真实等待」&#10;        &lt;/Text&gt;&#10;    &lt;/Box&gt;&#10;&#10;    {/* ===== C 区：内容 ===== */}&#10;    &lt;Box style={{ paddingLeft: 40, paddingRight: 40, paddingTop: 16, display: 'flex', flexDirection: 'column', gap: 14 }}&gt;&#10;&#10;        {/* 上排：左=原理 右=演示链路 */}&#10;        &lt;Box style={{ display: 'flex', flexDirection: 'row', gap: 16 }}&gt;&#10;&#10;            {/* 左卡：机制原理 */}&#10;            &lt;Box style={{ width: 380, background: '#F0F5FC', border: '1px solid #D6DCE5', borderRadius: 8, paddingLeft: 20, paddingRight: 20, paddingTop: 14, paddingBottom: 14, display: 'flex', flexDirection: 'column', gap: 10 }}&gt;&#10;                &lt;Text style={{ fontSize: 22, fontWeight: 'bold', color: '#0E3F8C' }}&gt;机制：时间偏移量&lt;/Text&gt;&#10;                &lt;Box style={{ background: '#FFFFFF', borderRadius: 6, paddingLeft: 12, paddingRight: 12, paddingTop: 10, paddingBottom: 10, border: '1px solid #E5E7EB' }}&gt;&#10;                    &lt;Text style={{ fontSize: 15, color: '#1A2230', lineHeight: 1.7, fontFamily: 'Consolas, monospace' }}&gt;&#10;                        业务时间 = 真实时间 + offset&#10;                    &lt;/Text&gt;&#10;                &lt;/Box&gt;&#10;                &lt;Text style={{ fontSize: 15, color: '#1A2230', lineHeight: 1.6 }}&gt;&#10;                    &lt;span style={{ fontWeight: 'bold', color: '#1E4FA8' }}&gt;set&lt;/span&gt;　绝对设置到某时刻&lt;br /&gt;&#10;                    &lt;span style={{ fontWeight: 'bold', color: '#1E4FA8' }}&gt;offset_minutes&lt;/span&gt;　相对快进 N 分钟&#10;                &lt;/Text&gt;&#10;                &lt;Box style={{ background: '#E8EFF8', borderRadius: 4, paddingLeft: 12, paddingRight: 12, paddingTop: 8, paddingBottom: 8 }}&gt;&#10;                    &lt;Text style={{ fontSize: 14, color: '#0E3F8C', lineHeight: 1.5 }}&gt;&#10;                        &lt;span style={{ fontWeight: 'bold' }}&gt;铁律：&lt;/span&gt;全仓库业务时间只取自 clock.now()，datetime.now() 仅许出现于 clock.py&#10;                    &lt;/Text&gt;&#10;                &lt;/Box&gt;&#10;            &lt;/Box&gt;&#10;&#10;            {/* 右卡：演示链路 4 步 */}&#10;            &lt;Box style={{ flex: 1, background: '#FFFFFF', border: '1px solid #D6DCE5', borderRadius: 8, paddingLeft: 20, paddingRight: 20, paddingTop: 14, paddingBottom: 14, display: 'flex', flexDirection: 'column', gap: 10 }}&gt;&#10;                &lt;Text style={{ fontSize: 22, fontWeight: 'bold', color: '#0E3F8C' }}&gt;演示链路：4 步完成「2 小时计费」&lt;/Text&gt;&#10;&#10;                &lt;Box style={{ display: 'flex', flexDirection: 'row', gap: 10 }}&gt;&#10;                    &lt;Box style={{ width: 26, height: 26, background: '#1E4FA8', borderRadius: 13, display: 'flex', alignItems: 'center', justifyContent: 'center' }}&gt;&#10;                        &lt;Text style={{ fontSize: 14, fontWeight: 'bold', color: '#FFFFFF' }}&gt;1&lt;/Text&gt;&#10;                    &lt;/Box&gt;&#10;                    &lt;Text style={{ fontSize: 15, color: '#1A2230', lineHeight: 1.5 }}&gt;&#10;                        &lt;span style={{ fontWeight: 'bold' }}&gt;设置虚拟时间&lt;/span&gt; → 2026-11-10T10:00:00&#10;                    &lt;/Text&gt;&#10;                &lt;/Box&gt;&#10;&#10;                &lt;Box style={{ display: 'flex', flexDirection: 'row', gap: 10 }}&gt;&#10;                    &lt;Box style={{ width: 26, height: 26, background: '#1E4FA8', borderRadius: 13, display: 'flex', alignItems: 'center', justifyContent: 'center' }}&gt;&#10;                        &lt;Text style={{ fontSize: 14, fontWeight: 'bold', color: '#FFFFFF' }}&gt;2&lt;/Text&gt;&#10;                    &lt;/Box&gt;&#10;                    &lt;Text style={{ fontSize: 15, color: '#1A2230', lineHeight: 1.5 }}&gt;&#10;                        &lt;span style={{ fontWeight: 'bold' }}&gt;入场&lt;/span&gt; 京A12345 → 票据 entry_time 记为虚拟时间 10:00&#10;                    &lt;/Text&gt;&#10;                &lt;/Box&gt;&#10;&#10;                &lt;Box style={{ display: 'flex', flexDirection: 'row', gap: 10 }}&gt;&#10;                    &lt;Box style={{ width: 26, height: 26, background: '#1E4FA8', borderRadius: 13, display: 'flex', alignItems: 'center', justifyContent: 'center' }}&gt;&#10;                        &lt;Text style={{ fontSize: 14, fontWeight: 'bold', color: '#FFFFFF' }}&gt;3&lt;/Text&gt;&#10;                    &lt;/Box&gt;&#10;                    &lt;Text style={{ fontSize: 15, color: '#1A2230', lineHeight: 1.5 }}&gt;&#10;                        &lt;span style={{ fontWeight: 'bold' }}&gt;快进&lt;/span&gt; offset_minutes=120 → 虚拟时间推进到 12:00&#10;                    &lt;/Text&gt;&#10;                &lt;/Box&gt;&#10;&#10;                &lt;Box style={{ display: 'flex', flexDirection: 'row', gap: 10 }}&gt;&#10;                    &lt;Box style={{ width: 26, height: 26, background: '#D9534F', borderRadius: 13, display: 'flex', alignItems: 'center', justifyContent: 'center' }}&gt;&#10;                        &lt;Text style={{ fontSize: 14, fontWeight: 'bold', color: '#FFFFFF' }}&gt;4&lt;/Text&gt;&#10;                    &lt;/Box&gt;&#10;                    &lt;Text style={{ fontSize: 15, color: '#1A2230', lineHeight: 1.5 }}&gt;&#10;                        &lt;span style={{ fontWeight: 'bold' }}&gt;出场计费&lt;/span&gt; → 时长 120 分，应收 &lt;span style={{ fontWeight: 'bold', color: '#D9534F' }}&gt;12.00 元&lt;/span&gt;&#10;                    &lt;/Text&gt;&#10;                &lt;/Box&gt;&#10;            &lt;/Box&gt;&#10;        &lt;/Box&gt;&#10;&#10;        {/* 下排：KPI 数据强调 */}&#10;        &lt;Box style={{ display: 'flex', flexDirection: 'row', gap: 16 }}&gt;&#10;&#10;            &lt;Box style={{ flex: 1, background: '#1E4FA8', borderRadius: 8, paddingLeft: 20, paddingRight: 20, paddingTop: 12, paddingBottom: 12, display: 'flex', flexDirection: 'column', alignItems: 'center', gap: 2 }}&gt;&#10;                &lt;Text style={{ fontSize: 40, fontWeight: 'bold', color: '#FFFFFF' }}&gt;12.00&lt;/Text&gt;&#10;                &lt;Text style={{ fontSize: 14, color: '#BFD3EF' }}&gt;元 · 2小时计费结果&lt;/Text&gt;&#10;            &lt;/Box&gt;&#10;&#10;            &lt;Box style={{ flex: 1, background: '#F0F5FC', border: '1px solid #D6DCE5', borderRadius: 8, paddingLeft: 20, paddingRight: 20, paddingTop: 12, paddingBottom: 12, display: 'flex', flexDirection: 'column', alignItems: 'center', gap: 2 }}&gt;&#10;                &lt;Text style={{ fontSize: 40, fontWeight: 'bold', color: '#0E3F8C' }}&gt;0&lt;/Text&gt;&#10;                &lt;Text style={{ fontSize: 14, color: '#4A5568' }}&gt;处 datetime.now() 泄漏&lt;/Text&gt;&#10;            &lt;/Box&gt;&#10;&#10;            &lt;Box style={{ flex: 1, background: '#F0F5FC', border: '1px solid #D6DCE5', borderRadius: 8, paddingLeft: 20, paddingRight: 20, paddingTop: 12, paddingBottom: 12, display: 'flex', flexDirection: 'column', alignItems: 'center', gap: 2 }}&gt;&#10;                &lt;Text style={{ fontSize: 40, fontWeight: 'bold', color: '#0E3F8C' }}&gt;33&lt;/Text&gt;&#10;                &lt;Text style={{ fontSize: 14, color: '#4A5568' }}&gt;项接口冒烟全绿&lt;/Text&gt;&#10;            &lt;/Box&gt;&#10;&#10;            &lt;Box style={{ flex: 1, background: '#F0F5FC', border: '1px solid #D6DCE5', borderRadius: 8, paddingLeft: 20, paddingRight: 20, paddingTop: 12, paddingBottom: 12, display: 'flex', flexDirection: 'column', alignItems: 'center', gap: 2 }}&gt;&#10;                &lt;Text style={{ fontSize: 40, fontWeight: 'bold', color: '#0E3F8C' }}&gt;7.50&lt;/Text&gt;&#10;                &lt;Text style={{ fontSize: 14, color: '#4A5568' }}&gt;元 · 跨夜间时段&lt;/Text&gt;&#10;            &lt;/Box&gt;&#10;        &lt;/Box&gt;&#10;&#10;        {/* 底部结论条 */}&#10;        &lt;Box style={{ background: '#E8EFF8', borderLeft: '4px solid #1E4FA8', borderRadius: 4, paddingLeft: 16, paddingRight: 16, paddingTop: 10, paddingBottom: 10, display: 'flex', flexDirection: 'row', alignItems: 'center', gap: 12 }}&gt;&#10;            &lt;Text style={{ fontSize: 16, fontWeight: 'bold', color: '#1E4FA8' }}&gt;价值&lt;/Text&gt;&#10;            &lt;Text style={{ fontSize: 16, color: '#1A2230' }}&gt;&#10;                时间注入让计费逻辑与真实等待解耦——演示&lt;span style={{ fontWeight: 'bold', color: '#0E3F8C' }}&gt;可复现、可反复&lt;/span&gt;，且覆盖免费时段、跨夜间、跨天、封顶全部计费分支&#10;            &lt;/Text&gt;&#10;        &lt;/Box&gt;&#10;    &lt;/Box&gt;&#10;&#10;    {/* ===== D 页脚 ===== */}&#10;    &lt;Box style={{ height: 44, display: 'flex', flexDirection: 'row', alignItems: 'center', justifyContent: 'space-between', paddingLeft: 40, paddingRight: 40 }}&gt;&#10;        &lt;Text style={{ fontSize: 14, color: '#8B97A8' }}&gt;《人工智能创新开发实践》课程设计 ｜ 停车场管理智能体&lt;/Text&gt;&#10;        &lt;Text style={{ fontSize: 15, fontWeight: 'bold', color: '#1E4FA8' }}&gt;02 / 02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6" name=""/>
          <p:cNvSpPr/>
          <p:nvPr/>
        </p:nvSpPr>
        <p:spPr>
          <a:xfrm rot="0" flipH="0" flipV="0">
            <a:off x="0" y="0"/>
            <a:ext cx="12192000" cy="6096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7" name="" descr="{&quot;isTemplate&quot;:true,&quot;type&quot;:&quot;text&quot;}"/>
          <p:cNvSpPr txBox="1"/>
          <p:nvPr/>
        </p:nvSpPr>
        <p:spPr>
          <a:xfrm rot="0" flipH="0" flipV="0">
            <a:off x="381000" y="190500"/>
            <a:ext cx="32670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 spc="75">
                <a:solidFill>
                  <a:srgbClr val="FFFFFF"/>
                </a:solidFill>
                <a:latin typeface="Source Han Sans"/>
                <a:ea typeface="Source Han Sans"/>
              </a:rPr>
              <a:t>停车场管理智能体</a:t>
            </a:r>
            <a:r>
              <a:rPr lang="en-US" sz="1500" b="1" spc="75">
                <a:solidFill>
                  <a:srgbClr val="FFFFFF"/>
                </a:solidFill>
                <a:latin typeface="Source Han Sans"/>
                <a:ea typeface="Source Han Sans"/>
              </a:rPr>
              <a:t xml:space="preserve"> · Mock </a:t>
            </a:r>
            <a:r>
              <a:rPr lang="zh-CN" sz="1500" b="1" spc="75">
                <a:solidFill>
                  <a:srgbClr val="FFFFFF"/>
                </a:solidFill>
                <a:latin typeface="Source Han Sans"/>
                <a:ea typeface="Source Han Sans"/>
              </a:rPr>
              <a:t>服务模块</a:t>
            </a:r>
            <a:endParaRPr/>
          </a:p>
        </p:txBody>
      </p:sp>
      <p:sp>
        <p:nvSpPr>
          <p:cNvPr id="38" name="" descr="{&quot;isTemplate&quot;:true,&quot;type&quot;:&quot;text&quot;}"/>
          <p:cNvSpPr txBox="1"/>
          <p:nvPr/>
        </p:nvSpPr>
        <p:spPr>
          <a:xfrm rot="0" flipH="0" flipV="0">
            <a:off x="10553700" y="209550"/>
            <a:ext cx="12573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BFD3EF"/>
                </a:solidFill>
                <a:latin typeface="Source Han Sans"/>
                <a:ea typeface="Source Han Sans"/>
              </a:rPr>
              <a:t>成员</a:t>
            </a:r>
            <a:r>
              <a:rPr lang="en-US" sz="1200">
                <a:solidFill>
                  <a:srgbClr val="BFD3EF"/>
                </a:solidFill>
                <a:latin typeface="Source Han Sans"/>
                <a:ea typeface="Source Han Sans"/>
              </a:rPr>
              <a:t xml:space="preserve">B </a:t>
            </a:r>
            <a:r>
              <a:rPr lang="zh-CN" sz="1200">
                <a:solidFill>
                  <a:srgbClr val="BFD3EF"/>
                </a:solidFill>
                <a:latin typeface="Source Han Sans"/>
                <a:ea typeface="Source Han Sans"/>
              </a:rPr>
              <a:t>｜</a:t>
            </a:r>
            <a:r>
              <a:rPr lang="en-US" sz="1200">
                <a:solidFill>
                  <a:srgbClr val="BFD3EF"/>
                </a:solidFill>
                <a:latin typeface="Source Han Sans"/>
                <a:ea typeface="Source Han Sans"/>
              </a:rPr>
              <a:t xml:space="preserve"> </a:t>
            </a:r>
            <a:r>
              <a:rPr lang="zh-CN" sz="1200">
                <a:solidFill>
                  <a:srgbClr val="BFD3EF"/>
                </a:solidFill>
                <a:latin typeface="Source Han Sans"/>
                <a:ea typeface="Source Han Sans"/>
              </a:rPr>
              <a:t>技术亮点</a:t>
            </a:r>
            <a:endParaRPr/>
          </a:p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381000" y="800100"/>
            <a:ext cx="114300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0E3F8C"/>
                </a:solidFill>
                <a:latin typeface="Source Han Sans"/>
                <a:ea typeface="Source Han Sans"/>
              </a:rPr>
              <a:t>虚拟时钟：让计费演示成立</a:t>
            </a:r>
            <a:endParaRPr/>
          </a:p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381000" y="1295400"/>
            <a:ext cx="114300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4A5568"/>
                </a:solidFill>
                <a:latin typeface="Source Han Sans"/>
                <a:ea typeface="Source Han Sans"/>
              </a:rPr>
              <a:t>计费演示要「停</a:t>
            </a:r>
            <a:r>
              <a:rPr lang="en-US" sz="1350">
                <a:solidFill>
                  <a:srgbClr val="4A5568"/>
                </a:solidFill>
                <a:latin typeface="Source Han Sans"/>
                <a:ea typeface="Source Han Sans"/>
              </a:rPr>
              <a:t xml:space="preserve"> 2 </a:t>
            </a:r>
            <a:r>
              <a:rPr lang="zh-CN" sz="1350">
                <a:solidFill>
                  <a:srgbClr val="4A5568"/>
                </a:solidFill>
                <a:latin typeface="Source Han Sans"/>
                <a:ea typeface="Source Han Sans"/>
              </a:rPr>
              <a:t>小时收</a:t>
            </a:r>
            <a:r>
              <a:rPr lang="en-US" sz="1350">
                <a:solidFill>
                  <a:srgbClr val="4A5568"/>
                </a:solidFill>
                <a:latin typeface="Source Han Sans"/>
                <a:ea typeface="Source Han Sans"/>
              </a:rPr>
              <a:t xml:space="preserve"> 12 </a:t>
            </a:r>
            <a:r>
              <a:rPr lang="zh-CN" sz="1350">
                <a:solidFill>
                  <a:srgbClr val="4A5568"/>
                </a:solidFill>
                <a:latin typeface="Source Han Sans"/>
                <a:ea typeface="Source Han Sans"/>
              </a:rPr>
              <a:t>元」，现场不可能真等——用</a:t>
            </a:r>
            <a:r>
              <a:rPr lang="zh-CN" sz="1350">
                <a:solidFill>
                  <a:srgbClr val="4A5568"/>
                </a:solidFill>
                <a:latin typeface="Source Han Sans"/>
                <a:ea typeface="Source Han Sans"/>
              </a:rPr>
              <a:t>时间注入</a:t>
            </a:r>
            <a:r>
              <a:rPr lang="zh-CN" sz="1350">
                <a:solidFill>
                  <a:srgbClr val="4A5568"/>
                </a:solidFill>
                <a:latin typeface="Source Han Sans"/>
                <a:ea typeface="Source Han Sans"/>
              </a:rPr>
              <a:t>解耦「计费逻辑」与「真实等待」</a:t>
            </a:r>
            <a:endParaRPr/>
          </a:p>
        </p:txBody>
      </p:sp>
      <p:sp>
        <p:nvSpPr>
          <p:cNvPr id="41" name=""/>
          <p:cNvSpPr/>
          <p:nvPr/>
        </p:nvSpPr>
        <p:spPr>
          <a:xfrm rot="0" flipH="0" flipV="0">
            <a:off x="381000" y="1657350"/>
            <a:ext cx="3619500" cy="2486025"/>
          </a:xfrm>
          <a:prstGeom prst="roundRect">
            <a:avLst>
              <a:gd name="adj" fmla="val 3065"/>
            </a:avLst>
          </a:prstGeom>
          <a:solidFill>
            <a:srgbClr val="F0F5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42" name="" descr="{&quot;isTemplate&quot;:true,&quot;type&quot;:&quot;text&quot;}"/>
          <p:cNvSpPr txBox="1"/>
          <p:nvPr/>
        </p:nvSpPr>
        <p:spPr>
          <a:xfrm rot="0" flipH="0" flipV="0">
            <a:off x="571500" y="1790700"/>
            <a:ext cx="32385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E3F8C"/>
                </a:solidFill>
                <a:latin typeface="Source Han Sans"/>
                <a:ea typeface="Source Han Sans"/>
              </a:rPr>
              <a:t>机制：时间偏移量</a:t>
            </a:r>
            <a:endParaRPr/>
          </a:p>
        </p:txBody>
      </p:sp>
      <p:sp>
        <p:nvSpPr>
          <p:cNvPr id="43" name=""/>
          <p:cNvSpPr/>
          <p:nvPr/>
        </p:nvSpPr>
        <p:spPr>
          <a:xfrm rot="0" flipH="0" flipV="0">
            <a:off x="571500" y="2143125"/>
            <a:ext cx="3238500" cy="485775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44" name="" descr="{&quot;isTemplate&quot;:true,&quot;type&quot;:&quot;text&quot;}"/>
          <p:cNvSpPr txBox="1"/>
          <p:nvPr/>
        </p:nvSpPr>
        <p:spPr>
          <a:xfrm rot="0" flipH="0" flipV="0">
            <a:off x="685800" y="2238375"/>
            <a:ext cx="3009900" cy="2952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125">
                <a:solidFill>
                  <a:srgbClr val="1A2230"/>
                </a:solidFill>
                <a:latin typeface="Consolas"/>
                <a:ea typeface="Consolas"/>
              </a:rPr>
              <a:t>业务时间</a:t>
            </a:r>
            <a:r>
              <a:rPr lang="en-US" sz="1125">
                <a:solidFill>
                  <a:srgbClr val="1A2230"/>
                </a:solidFill>
                <a:latin typeface="Consolas"/>
                <a:ea typeface="Consolas"/>
              </a:rPr>
              <a:t xml:space="preserve"> = </a:t>
            </a:r>
            <a:r>
              <a:rPr lang="zh-CN" sz="1125">
                <a:solidFill>
                  <a:srgbClr val="1A2230"/>
                </a:solidFill>
                <a:latin typeface="Consolas"/>
                <a:ea typeface="Consolas"/>
              </a:rPr>
              <a:t>真实时间</a:t>
            </a:r>
            <a:r>
              <a:rPr lang="en-US" sz="1125">
                <a:solidFill>
                  <a:srgbClr val="1A2230"/>
                </a:solidFill>
                <a:latin typeface="Consolas"/>
                <a:ea typeface="Consolas"/>
              </a:rPr>
              <a:t xml:space="preserve"> + offset</a:t>
            </a:r>
            <a:endParaRPr/>
          </a:p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571500" y="2724150"/>
            <a:ext cx="3238500" cy="5524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125" b="1">
                <a:solidFill>
                  <a:srgbClr val="1E4FA8"/>
                </a:solidFill>
                <a:latin typeface="Source Han Sans"/>
                <a:ea typeface="Source Han Sans"/>
              </a:rPr>
              <a:t>set</a:t>
            </a:r>
            <a:r>
              <a:rPr lang="zh-CN" sz="1125">
                <a:solidFill>
                  <a:srgbClr val="1A2230"/>
                </a:solidFill>
                <a:latin typeface="Source Han Sans"/>
                <a:ea typeface="Source Han Sans"/>
              </a:rPr>
              <a:t>　绝对设置到某时刻</a:t>
            </a:r>
            <a:endParaRPr/>
          </a:p>
          <a:p>
            <a:pPr>
              <a:lnSpc>
                <a:spcPct val="160000"/>
              </a:lnSpc>
            </a:pPr>
            <a:r>
              <a:rPr lang="en-US" sz="1125" b="1">
                <a:solidFill>
                  <a:srgbClr val="1E4FA8"/>
                </a:solidFill>
                <a:latin typeface="Source Han Sans"/>
                <a:ea typeface="Source Han Sans"/>
              </a:rPr>
              <a:t>offset_minutes</a:t>
            </a:r>
            <a:r>
              <a:rPr lang="zh-CN" sz="1125">
                <a:solidFill>
                  <a:srgbClr val="1A2230"/>
                </a:solidFill>
                <a:latin typeface="Source Han Sans"/>
                <a:ea typeface="Source Han Sans"/>
              </a:rPr>
              <a:t>　相对快进</a:t>
            </a:r>
            <a:r>
              <a:rPr lang="en-US" sz="1125">
                <a:solidFill>
                  <a:srgbClr val="1A2230"/>
                </a:solidFill>
                <a:latin typeface="Source Han Sans"/>
                <a:ea typeface="Source Han Sans"/>
              </a:rPr>
              <a:t xml:space="preserve"> N </a:t>
            </a:r>
            <a:r>
              <a:rPr lang="zh-CN" sz="1125">
                <a:solidFill>
                  <a:srgbClr val="1A2230"/>
                </a:solidFill>
                <a:latin typeface="Source Han Sans"/>
                <a:ea typeface="Source Han Sans"/>
              </a:rPr>
              <a:t>分钟</a:t>
            </a:r>
            <a:endParaRPr/>
          </a:p>
        </p:txBody>
      </p:sp>
      <p:sp>
        <p:nvSpPr>
          <p:cNvPr id="46" name=""/>
          <p:cNvSpPr/>
          <p:nvPr/>
        </p:nvSpPr>
        <p:spPr>
          <a:xfrm rot="0" flipH="0" flipV="0">
            <a:off x="571500" y="3371850"/>
            <a:ext cx="3238500" cy="638175"/>
          </a:xfrm>
          <a:prstGeom prst="roundRect">
            <a:avLst>
              <a:gd name="adj" fmla="val 5970"/>
            </a:avLst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685800" y="3448050"/>
            <a:ext cx="3009900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050" b="1">
                <a:solidFill>
                  <a:srgbClr val="0E3F8C"/>
                </a:solidFill>
                <a:latin typeface="Source Han Sans"/>
                <a:ea typeface="Source Han Sans"/>
              </a:rPr>
              <a:t>铁律：</a:t>
            </a:r>
            <a:r>
              <a:rPr lang="zh-CN" sz="1050">
                <a:solidFill>
                  <a:srgbClr val="0E3F8C"/>
                </a:solidFill>
                <a:latin typeface="Source Han Sans"/>
                <a:ea typeface="Source Han Sans"/>
              </a:rPr>
              <a:t>全仓库业务时间只取自</a:t>
            </a:r>
            <a:r>
              <a:rPr lang="en-US" sz="1050">
                <a:solidFill>
                  <a:srgbClr val="0E3F8C"/>
                </a:solidFill>
                <a:latin typeface="Source Han Sans"/>
                <a:ea typeface="Source Han Sans"/>
              </a:rPr>
              <a:t xml:space="preserve"> clock.now()</a:t>
            </a:r>
            <a:r>
              <a:rPr lang="zh-CN" sz="1050">
                <a:solidFill>
                  <a:srgbClr val="0E3F8C"/>
                </a:solidFill>
                <a:latin typeface="Source Han Sans"/>
                <a:ea typeface="Source Han Sans"/>
              </a:rPr>
              <a:t>，</a:t>
            </a:r>
            <a:r>
              <a:rPr lang="en-US" sz="1050">
                <a:solidFill>
                  <a:srgbClr val="0E3F8C"/>
                </a:solidFill>
                <a:latin typeface="Source Han Sans"/>
                <a:ea typeface="Source Han Sans"/>
              </a:rPr>
              <a:t xml:space="preserve">datetime.now() </a:t>
            </a:r>
            <a:r>
              <a:rPr lang="zh-CN" sz="1050">
                <a:solidFill>
                  <a:srgbClr val="0E3F8C"/>
                </a:solidFill>
                <a:latin typeface="Source Han Sans"/>
                <a:ea typeface="Source Han Sans"/>
              </a:rPr>
              <a:t>仅许出现于</a:t>
            </a:r>
            <a:r>
              <a:rPr lang="en-US" sz="1050">
                <a:solidFill>
                  <a:srgbClr val="0E3F8C"/>
                </a:solidFill>
                <a:latin typeface="Source Han Sans"/>
                <a:ea typeface="Source Han Sans"/>
              </a:rPr>
              <a:t xml:space="preserve"> clock.py</a:t>
            </a:r>
            <a:endParaRPr/>
          </a:p>
        </p:txBody>
      </p:sp>
      <p:sp>
        <p:nvSpPr>
          <p:cNvPr id="48" name=""/>
          <p:cNvSpPr/>
          <p:nvPr/>
        </p:nvSpPr>
        <p:spPr>
          <a:xfrm rot="0" flipH="0" flipV="0">
            <a:off x="4152900" y="1657350"/>
            <a:ext cx="7658100" cy="2486025"/>
          </a:xfrm>
          <a:prstGeom prst="roundRect">
            <a:avLst>
              <a:gd name="adj" fmla="val 3065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49" name="" descr="{&quot;isTemplate&quot;:true,&quot;type&quot;:&quot;text&quot;}"/>
          <p:cNvSpPr txBox="1"/>
          <p:nvPr/>
        </p:nvSpPr>
        <p:spPr>
          <a:xfrm rot="0" flipH="0" flipV="0">
            <a:off x="4343400" y="1790700"/>
            <a:ext cx="72771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E3F8C"/>
                </a:solidFill>
                <a:latin typeface="Source Han Sans"/>
                <a:ea typeface="Source Han Sans"/>
              </a:rPr>
              <a:t>演示链路：</a:t>
            </a:r>
            <a:r>
              <a:rPr lang="en-US" sz="1650" b="1">
                <a:solidFill>
                  <a:srgbClr val="0E3F8C"/>
                </a:solidFill>
                <a:latin typeface="Source Han Sans"/>
                <a:ea typeface="Source Han Sans"/>
              </a:rPr>
              <a:t xml:space="preserve">4 </a:t>
            </a:r>
            <a:r>
              <a:rPr lang="zh-CN" sz="1650" b="1">
                <a:solidFill>
                  <a:srgbClr val="0E3F8C"/>
                </a:solidFill>
                <a:latin typeface="Source Han Sans"/>
                <a:ea typeface="Source Han Sans"/>
              </a:rPr>
              <a:t>步完成「</a:t>
            </a:r>
            <a:r>
              <a:rPr lang="en-US" sz="1650" b="1">
                <a:solidFill>
                  <a:srgbClr val="0E3F8C"/>
                </a:solidFill>
                <a:latin typeface="Source Han Sans"/>
                <a:ea typeface="Source Han Sans"/>
              </a:rPr>
              <a:t xml:space="preserve">2 </a:t>
            </a:r>
            <a:r>
              <a:rPr lang="zh-CN" sz="1650" b="1">
                <a:solidFill>
                  <a:srgbClr val="0E3F8C"/>
                </a:solidFill>
                <a:latin typeface="Source Han Sans"/>
                <a:ea typeface="Source Han Sans"/>
              </a:rPr>
              <a:t>小时计费」</a:t>
            </a:r>
            <a:endParaRPr/>
          </a:p>
        </p:txBody>
      </p:sp>
      <p:sp>
        <p:nvSpPr>
          <p:cNvPr id="50" name=""/>
          <p:cNvSpPr/>
          <p:nvPr/>
        </p:nvSpPr>
        <p:spPr>
          <a:xfrm rot="0" flipH="0" flipV="0">
            <a:off x="4343400" y="2143125"/>
            <a:ext cx="247650" cy="2476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51" name="" descr="{&quot;isTemplate&quot;:true,&quot;type&quot;:&quot;text&quot;}"/>
          <p:cNvSpPr txBox="1"/>
          <p:nvPr/>
        </p:nvSpPr>
        <p:spPr>
          <a:xfrm rot="0" flipH="0" flipV="0">
            <a:off x="4429125" y="2190750"/>
            <a:ext cx="85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Source Han Sans"/>
                <a:ea typeface="Source Han Sans"/>
              </a:rPr>
              <a:t>1</a:t>
            </a:r>
            <a:endParaRPr/>
          </a:p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4686300" y="2143125"/>
            <a:ext cx="25336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 b="1">
                <a:solidFill>
                  <a:srgbClr val="1A2230"/>
                </a:solidFill>
                <a:latin typeface="Source Han Sans"/>
                <a:ea typeface="Source Han Sans"/>
              </a:rPr>
              <a:t>设置虚拟时间</a:t>
            </a:r>
            <a:r>
              <a:rPr lang="en-US" sz="1125">
                <a:solidFill>
                  <a:srgbClr val="1A2230"/>
                </a:solidFill>
                <a:latin typeface="Source Han Sans"/>
                <a:ea typeface="Source Han Sans"/>
              </a:rPr>
              <a:t xml:space="preserve"> → 2026-11-10T10:00:00</a:t>
            </a:r>
            <a:endParaRPr/>
          </a:p>
        </p:txBody>
      </p:sp>
      <p:sp>
        <p:nvSpPr>
          <p:cNvPr id="53" name=""/>
          <p:cNvSpPr/>
          <p:nvPr/>
        </p:nvSpPr>
        <p:spPr>
          <a:xfrm rot="0" flipH="0" flipV="0">
            <a:off x="4343400" y="2495550"/>
            <a:ext cx="247650" cy="2476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54" name="" descr="{&quot;isTemplate&quot;:true,&quot;type&quot;:&quot;text&quot;}"/>
          <p:cNvSpPr txBox="1"/>
          <p:nvPr/>
        </p:nvSpPr>
        <p:spPr>
          <a:xfrm rot="0" flipH="0" flipV="0">
            <a:off x="4429125" y="2543175"/>
            <a:ext cx="85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Source Han Sans"/>
                <a:ea typeface="Source Han Sans"/>
              </a:rPr>
              <a:t>2</a:t>
            </a:r>
            <a:endParaRPr/>
          </a:p>
        </p:txBody>
      </p:sp>
      <p:sp>
        <p:nvSpPr>
          <p:cNvPr id="55" name="" descr="{&quot;isTemplate&quot;:true,&quot;type&quot;:&quot;text&quot;}"/>
          <p:cNvSpPr txBox="1"/>
          <p:nvPr/>
        </p:nvSpPr>
        <p:spPr>
          <a:xfrm rot="0" flipH="0" flipV="0">
            <a:off x="4686300" y="2495550"/>
            <a:ext cx="359092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 b="1">
                <a:solidFill>
                  <a:srgbClr val="1A2230"/>
                </a:solidFill>
                <a:latin typeface="Source Han Sans"/>
                <a:ea typeface="Source Han Sans"/>
              </a:rPr>
              <a:t>入场</a:t>
            </a:r>
            <a:r>
              <a:rPr lang="en-US" sz="1125">
                <a:solidFill>
                  <a:srgbClr val="1A2230"/>
                </a:solidFill>
                <a:latin typeface="Source Han Sans"/>
                <a:ea typeface="Source Han Sans"/>
              </a:rPr>
              <a:t xml:space="preserve"> </a:t>
            </a:r>
            <a:r>
              <a:rPr lang="zh-CN" sz="1125">
                <a:solidFill>
                  <a:srgbClr val="1A2230"/>
                </a:solidFill>
                <a:latin typeface="Source Han Sans"/>
                <a:ea typeface="Source Han Sans"/>
              </a:rPr>
              <a:t>京</a:t>
            </a:r>
            <a:r>
              <a:rPr lang="en-US" sz="1125">
                <a:solidFill>
                  <a:srgbClr val="1A2230"/>
                </a:solidFill>
                <a:latin typeface="Source Han Sans"/>
                <a:ea typeface="Source Han Sans"/>
              </a:rPr>
              <a:t xml:space="preserve">A12345 → </a:t>
            </a:r>
            <a:r>
              <a:rPr lang="zh-CN" sz="1125">
                <a:solidFill>
                  <a:srgbClr val="1A2230"/>
                </a:solidFill>
                <a:latin typeface="Source Han Sans"/>
                <a:ea typeface="Source Han Sans"/>
              </a:rPr>
              <a:t>票据</a:t>
            </a:r>
            <a:r>
              <a:rPr lang="en-US" sz="1125">
                <a:solidFill>
                  <a:srgbClr val="1A2230"/>
                </a:solidFill>
                <a:latin typeface="Source Han Sans"/>
                <a:ea typeface="Source Han Sans"/>
              </a:rPr>
              <a:t xml:space="preserve"> entry_time </a:t>
            </a:r>
            <a:r>
              <a:rPr lang="zh-CN" sz="1125">
                <a:solidFill>
                  <a:srgbClr val="1A2230"/>
                </a:solidFill>
                <a:latin typeface="Source Han Sans"/>
                <a:ea typeface="Source Han Sans"/>
              </a:rPr>
              <a:t>记为虚拟时间</a:t>
            </a:r>
            <a:r>
              <a:rPr lang="en-US" sz="1125">
                <a:solidFill>
                  <a:srgbClr val="1A2230"/>
                </a:solidFill>
                <a:latin typeface="Source Han Sans"/>
                <a:ea typeface="Source Han Sans"/>
              </a:rPr>
              <a:t xml:space="preserve"> 10:00</a:t>
            </a:r>
            <a:endParaRPr/>
          </a:p>
        </p:txBody>
      </p:sp>
      <p:sp>
        <p:nvSpPr>
          <p:cNvPr id="56" name=""/>
          <p:cNvSpPr/>
          <p:nvPr/>
        </p:nvSpPr>
        <p:spPr>
          <a:xfrm rot="0" flipH="0" flipV="0">
            <a:off x="4343400" y="2847975"/>
            <a:ext cx="247650" cy="2476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57" name="" descr="{&quot;isTemplate&quot;:true,&quot;type&quot;:&quot;text&quot;}"/>
          <p:cNvSpPr txBox="1"/>
          <p:nvPr/>
        </p:nvSpPr>
        <p:spPr>
          <a:xfrm rot="0" flipH="0" flipV="0">
            <a:off x="4429125" y="2895600"/>
            <a:ext cx="85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Source Han Sans"/>
                <a:ea typeface="Source Han Sans"/>
              </a:rPr>
              <a:t>3</a:t>
            </a:r>
            <a:endParaRPr/>
          </a:p>
        </p:txBody>
      </p:sp>
      <p:sp>
        <p:nvSpPr>
          <p:cNvPr id="58" name="" descr="{&quot;isTemplate&quot;:true,&quot;type&quot;:&quot;text&quot;}"/>
          <p:cNvSpPr txBox="1"/>
          <p:nvPr/>
        </p:nvSpPr>
        <p:spPr>
          <a:xfrm rot="0" flipH="0" flipV="0">
            <a:off x="4686300" y="2847975"/>
            <a:ext cx="332422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 b="1">
                <a:solidFill>
                  <a:srgbClr val="1A2230"/>
                </a:solidFill>
                <a:latin typeface="Source Han Sans"/>
                <a:ea typeface="Source Han Sans"/>
              </a:rPr>
              <a:t>快进</a:t>
            </a:r>
            <a:r>
              <a:rPr lang="en-US" sz="1125">
                <a:solidFill>
                  <a:srgbClr val="1A2230"/>
                </a:solidFill>
                <a:latin typeface="Source Han Sans"/>
                <a:ea typeface="Source Han Sans"/>
              </a:rPr>
              <a:t xml:space="preserve"> offset_minutes=120 → </a:t>
            </a:r>
            <a:r>
              <a:rPr lang="zh-CN" sz="1125">
                <a:solidFill>
                  <a:srgbClr val="1A2230"/>
                </a:solidFill>
                <a:latin typeface="Source Han Sans"/>
                <a:ea typeface="Source Han Sans"/>
              </a:rPr>
              <a:t>虚拟时间推进到</a:t>
            </a:r>
            <a:r>
              <a:rPr lang="en-US" sz="1125">
                <a:solidFill>
                  <a:srgbClr val="1A2230"/>
                </a:solidFill>
                <a:latin typeface="Source Han Sans"/>
                <a:ea typeface="Source Han Sans"/>
              </a:rPr>
              <a:t xml:space="preserve"> 12:00</a:t>
            </a:r>
            <a:endParaRPr/>
          </a:p>
        </p:txBody>
      </p:sp>
      <p:sp>
        <p:nvSpPr>
          <p:cNvPr id="59" name=""/>
          <p:cNvSpPr/>
          <p:nvPr/>
        </p:nvSpPr>
        <p:spPr>
          <a:xfrm rot="0" flipH="0" flipV="0">
            <a:off x="4343400" y="3200400"/>
            <a:ext cx="247650" cy="247650"/>
          </a:xfrm>
          <a:prstGeom prst="roundRect">
            <a:avLst>
              <a:gd name="adj" fmla="val 50000"/>
            </a:avLst>
          </a:prstGeom>
          <a:solidFill>
            <a:srgbClr val="D9534F"/>
          </a:solidFill>
          <a:ln/>
        </p:spPr>
        <p:txBody>
          <a:bodyPr/>
          <a:p/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4429125" y="3248025"/>
            <a:ext cx="85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Source Han Sans"/>
                <a:ea typeface="Source Han Sans"/>
              </a:rPr>
              <a:t>4</a:t>
            </a:r>
            <a:endParaRPr/>
          </a:p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4686300" y="3200400"/>
            <a:ext cx="261937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 b="1">
                <a:solidFill>
                  <a:srgbClr val="1A2230"/>
                </a:solidFill>
                <a:latin typeface="Source Han Sans"/>
                <a:ea typeface="Source Han Sans"/>
              </a:rPr>
              <a:t>出场计费</a:t>
            </a:r>
            <a:r>
              <a:rPr lang="en-US" sz="1125">
                <a:solidFill>
                  <a:srgbClr val="1A2230"/>
                </a:solidFill>
                <a:latin typeface="Source Han Sans"/>
                <a:ea typeface="Source Han Sans"/>
              </a:rPr>
              <a:t xml:space="preserve"> → </a:t>
            </a:r>
            <a:r>
              <a:rPr lang="zh-CN" sz="1125">
                <a:solidFill>
                  <a:srgbClr val="1A2230"/>
                </a:solidFill>
                <a:latin typeface="Source Han Sans"/>
                <a:ea typeface="Source Han Sans"/>
              </a:rPr>
              <a:t>时长</a:t>
            </a:r>
            <a:r>
              <a:rPr lang="en-US" sz="1125">
                <a:solidFill>
                  <a:srgbClr val="1A2230"/>
                </a:solidFill>
                <a:latin typeface="Source Han Sans"/>
                <a:ea typeface="Source Han Sans"/>
              </a:rPr>
              <a:t xml:space="preserve"> 120 </a:t>
            </a:r>
            <a:r>
              <a:rPr lang="zh-CN" sz="1125">
                <a:solidFill>
                  <a:srgbClr val="1A2230"/>
                </a:solidFill>
                <a:latin typeface="Source Han Sans"/>
                <a:ea typeface="Source Han Sans"/>
              </a:rPr>
              <a:t>分，应收</a:t>
            </a:r>
            <a:r>
              <a:rPr lang="en-US" sz="1125">
                <a:solidFill>
                  <a:srgbClr val="1A2230"/>
                </a:solidFill>
                <a:latin typeface="Source Han Sans"/>
                <a:ea typeface="Source Han Sans"/>
              </a:rPr>
              <a:t xml:space="preserve"> </a:t>
            </a:r>
            <a:r>
              <a:rPr lang="en-US" sz="1125" b="1">
                <a:solidFill>
                  <a:srgbClr val="D9534F"/>
                </a:solidFill>
                <a:latin typeface="Source Han Sans"/>
                <a:ea typeface="Source Han Sans"/>
              </a:rPr>
              <a:t xml:space="preserve">12.00 </a:t>
            </a:r>
            <a:r>
              <a:rPr lang="zh-CN" sz="1125" b="1">
                <a:solidFill>
                  <a:srgbClr val="D9534F"/>
                </a:solidFill>
                <a:latin typeface="Source Han Sans"/>
                <a:ea typeface="Source Han Sans"/>
              </a:rPr>
              <a:t>元</a:t>
            </a:r>
            <a:endParaRPr/>
          </a:p>
        </p:txBody>
      </p:sp>
      <p:sp>
        <p:nvSpPr>
          <p:cNvPr id="62" name=""/>
          <p:cNvSpPr/>
          <p:nvPr/>
        </p:nvSpPr>
        <p:spPr>
          <a:xfrm rot="0" flipH="0" flipV="0">
            <a:off x="381000" y="4276725"/>
            <a:ext cx="2743200" cy="866775"/>
          </a:xfrm>
          <a:prstGeom prst="roundRect">
            <a:avLst>
              <a:gd name="adj" fmla="val 8791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63" name="" descr="{&quot;isTemplate&quot;:true,&quot;type&quot;:&quot;text&quot;}"/>
          <p:cNvSpPr txBox="1"/>
          <p:nvPr/>
        </p:nvSpPr>
        <p:spPr>
          <a:xfrm rot="0" flipH="0" flipV="0">
            <a:off x="1228725" y="4391025"/>
            <a:ext cx="1057275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FFFFFF"/>
                </a:solidFill>
                <a:latin typeface="Source Han Sans"/>
                <a:ea typeface="Source Han Sans"/>
              </a:rPr>
              <a:t>12.00</a:t>
            </a:r>
            <a:endParaRPr/>
          </a:p>
        </p:txBody>
      </p:sp>
      <p:sp>
        <p:nvSpPr>
          <p:cNvPr id="64" name="" descr="{&quot;isTemplate&quot;:true,&quot;type&quot;:&quot;text&quot;}"/>
          <p:cNvSpPr txBox="1"/>
          <p:nvPr/>
        </p:nvSpPr>
        <p:spPr>
          <a:xfrm rot="0" flipH="0" flipV="0">
            <a:off x="1190625" y="4867275"/>
            <a:ext cx="1123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FD3EF"/>
                </a:solidFill>
                <a:latin typeface="Source Han Sans"/>
                <a:ea typeface="Source Han Sans"/>
              </a:rPr>
              <a:t>元</a:t>
            </a:r>
            <a:r>
              <a:rPr lang="en-US" sz="1050">
                <a:solidFill>
                  <a:srgbClr val="BFD3EF"/>
                </a:solidFill>
                <a:latin typeface="Source Han Sans"/>
                <a:ea typeface="Source Han Sans"/>
              </a:rPr>
              <a:t xml:space="preserve"> · 2</a:t>
            </a:r>
            <a:r>
              <a:rPr lang="zh-CN" sz="1050">
                <a:solidFill>
                  <a:srgbClr val="BFD3EF"/>
                </a:solidFill>
                <a:latin typeface="Source Han Sans"/>
                <a:ea typeface="Source Han Sans"/>
              </a:rPr>
              <a:t>小时计费结果</a:t>
            </a:r>
            <a:endParaRPr/>
          </a:p>
        </p:txBody>
      </p:sp>
      <p:sp>
        <p:nvSpPr>
          <p:cNvPr id="65" name=""/>
          <p:cNvSpPr/>
          <p:nvPr/>
        </p:nvSpPr>
        <p:spPr>
          <a:xfrm rot="0" flipH="0" flipV="0">
            <a:off x="3276600" y="4276725"/>
            <a:ext cx="2743200" cy="866775"/>
          </a:xfrm>
          <a:prstGeom prst="roundRect">
            <a:avLst>
              <a:gd name="adj" fmla="val 8791"/>
            </a:avLst>
          </a:prstGeom>
          <a:solidFill>
            <a:srgbClr val="F0F5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66" name="" descr="{&quot;isTemplate&quot;:true,&quot;type&quot;:&quot;text&quot;}"/>
          <p:cNvSpPr txBox="1"/>
          <p:nvPr/>
        </p:nvSpPr>
        <p:spPr>
          <a:xfrm rot="0" flipH="0" flipV="0">
            <a:off x="4533900" y="4391025"/>
            <a:ext cx="238125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0E3F8C"/>
                </a:solidFill>
                <a:latin typeface="Source Han Sans"/>
                <a:ea typeface="Source Han Sans"/>
              </a:rPr>
              <a:t>0</a:t>
            </a:r>
            <a:endParaRPr/>
          </a:p>
        </p:txBody>
      </p:sp>
      <p:sp>
        <p:nvSpPr>
          <p:cNvPr id="67" name="" descr="{&quot;isTemplate&quot;:true,&quot;type&quot;:&quot;text&quot;}"/>
          <p:cNvSpPr txBox="1"/>
          <p:nvPr/>
        </p:nvSpPr>
        <p:spPr>
          <a:xfrm rot="0" flipH="0" flipV="0">
            <a:off x="3924300" y="4867275"/>
            <a:ext cx="1447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4A5568"/>
                </a:solidFill>
                <a:latin typeface="Source Han Sans"/>
                <a:ea typeface="Source Han Sans"/>
              </a:rPr>
              <a:t>处</a:t>
            </a:r>
            <a:r>
              <a:rPr lang="en-US" sz="1050">
                <a:solidFill>
                  <a:srgbClr val="4A5568"/>
                </a:solidFill>
                <a:latin typeface="Source Han Sans"/>
                <a:ea typeface="Source Han Sans"/>
              </a:rPr>
              <a:t xml:space="preserve"> datetime.now() </a:t>
            </a:r>
            <a:r>
              <a:rPr lang="zh-CN" sz="1050">
                <a:solidFill>
                  <a:srgbClr val="4A5568"/>
                </a:solidFill>
                <a:latin typeface="Source Han Sans"/>
                <a:ea typeface="Source Han Sans"/>
              </a:rPr>
              <a:t>泄漏</a:t>
            </a:r>
            <a:endParaRPr/>
          </a:p>
        </p:txBody>
      </p:sp>
      <p:sp>
        <p:nvSpPr>
          <p:cNvPr id="68" name=""/>
          <p:cNvSpPr/>
          <p:nvPr/>
        </p:nvSpPr>
        <p:spPr>
          <a:xfrm rot="0" flipH="0" flipV="0">
            <a:off x="6172200" y="4276725"/>
            <a:ext cx="2743200" cy="866775"/>
          </a:xfrm>
          <a:prstGeom prst="roundRect">
            <a:avLst>
              <a:gd name="adj" fmla="val 8791"/>
            </a:avLst>
          </a:prstGeom>
          <a:solidFill>
            <a:srgbClr val="F0F5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69" name="" descr="{&quot;isTemplate&quot;:true,&quot;type&quot;:&quot;text&quot;}"/>
          <p:cNvSpPr txBox="1"/>
          <p:nvPr/>
        </p:nvSpPr>
        <p:spPr>
          <a:xfrm rot="0" flipH="0" flipV="0">
            <a:off x="7305675" y="4391025"/>
            <a:ext cx="47625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0E3F8C"/>
                </a:solidFill>
                <a:latin typeface="Source Han Sans"/>
                <a:ea typeface="Source Han Sans"/>
              </a:rPr>
              <a:t>33</a:t>
            </a:r>
            <a:endParaRPr/>
          </a:p>
        </p:txBody>
      </p:sp>
      <p:sp>
        <p:nvSpPr>
          <p:cNvPr id="70" name="" descr="{&quot;isTemplate&quot;:true,&quot;type&quot;:&quot;text&quot;}"/>
          <p:cNvSpPr txBox="1"/>
          <p:nvPr/>
        </p:nvSpPr>
        <p:spPr>
          <a:xfrm rot="0" flipH="0" flipV="0">
            <a:off x="7077075" y="4867275"/>
            <a:ext cx="933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4A5568"/>
                </a:solidFill>
                <a:latin typeface="Source Han Sans"/>
                <a:ea typeface="Source Han Sans"/>
              </a:rPr>
              <a:t>项接口冒烟全绿</a:t>
            </a:r>
            <a:endParaRPr/>
          </a:p>
        </p:txBody>
      </p:sp>
      <p:sp>
        <p:nvSpPr>
          <p:cNvPr id="71" name=""/>
          <p:cNvSpPr/>
          <p:nvPr/>
        </p:nvSpPr>
        <p:spPr>
          <a:xfrm rot="0" flipH="0" flipV="0">
            <a:off x="9067800" y="4276725"/>
            <a:ext cx="2743200" cy="866775"/>
          </a:xfrm>
          <a:prstGeom prst="roundRect">
            <a:avLst>
              <a:gd name="adj" fmla="val 8791"/>
            </a:avLst>
          </a:prstGeom>
          <a:solidFill>
            <a:srgbClr val="F0F5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10029825" y="4391025"/>
            <a:ext cx="81915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0E3F8C"/>
                </a:solidFill>
                <a:latin typeface="Source Han Sans"/>
                <a:ea typeface="Source Han Sans"/>
              </a:rPr>
              <a:t>7.50</a:t>
            </a:r>
            <a:endParaRPr/>
          </a:p>
        </p:txBody>
      </p:sp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9982200" y="4867275"/>
            <a:ext cx="914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4A5568"/>
                </a:solidFill>
                <a:latin typeface="Source Han Sans"/>
                <a:ea typeface="Source Han Sans"/>
              </a:rPr>
              <a:t>元</a:t>
            </a:r>
            <a:r>
              <a:rPr lang="en-US" sz="1050">
                <a:solidFill>
                  <a:srgbClr val="4A5568"/>
                </a:solidFill>
                <a:latin typeface="Source Han Sans"/>
                <a:ea typeface="Source Han Sans"/>
              </a:rPr>
              <a:t xml:space="preserve"> · </a:t>
            </a:r>
            <a:r>
              <a:rPr lang="zh-CN" sz="1050">
                <a:solidFill>
                  <a:srgbClr val="4A5568"/>
                </a:solidFill>
                <a:latin typeface="Source Han Sans"/>
                <a:ea typeface="Source Han Sans"/>
              </a:rPr>
              <a:t>跨夜间时段</a:t>
            </a:r>
            <a:endParaRPr/>
          </a:p>
        </p:txBody>
      </p:sp>
      <p:sp>
        <p:nvSpPr>
          <p:cNvPr id="74" name=""/>
          <p:cNvSpPr/>
          <p:nvPr/>
        </p:nvSpPr>
        <p:spPr>
          <a:xfrm rot="0" flipH="0" flipV="0">
            <a:off x="419100" y="5276850"/>
            <a:ext cx="11430000" cy="381000"/>
          </a:xfrm>
          <a:prstGeom prst="roundRect">
            <a:avLst>
              <a:gd name="adj" fmla="val 10000"/>
            </a:avLst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75" name=""/>
          <p:cNvSpPr/>
          <p:nvPr/>
        </p:nvSpPr>
        <p:spPr>
          <a:xfrm rot="0" flipH="0" flipV="0">
            <a:off x="419100" y="5276850"/>
            <a:ext cx="11430000" cy="381000"/>
          </a:xfrm>
          <a:custGeom>
            <a:pathLst>
              <a:path w="1200" h="40">
                <a:moveTo>
                  <a:pt x="4" y="40"/>
                </a:moveTo>
                <a:cubicBezTo>
                  <a:pt x="2" y="40"/>
                  <a:pt x="0" y="38"/>
                  <a:pt x="0" y="36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40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76" name="" descr="{&quot;isTemplate&quot;:true,&quot;type&quot;:&quot;text&quot;}"/>
          <p:cNvSpPr txBox="1"/>
          <p:nvPr/>
        </p:nvSpPr>
        <p:spPr>
          <a:xfrm rot="0" flipH="0" flipV="0">
            <a:off x="571500" y="5372100"/>
            <a:ext cx="304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E4FA8"/>
                </a:solidFill>
                <a:latin typeface="Source Han Sans"/>
                <a:ea typeface="Source Han Sans"/>
              </a:rPr>
              <a:t>价值</a:t>
            </a:r>
            <a:endParaRPr/>
          </a:p>
        </p:txBody>
      </p:sp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990600" y="5372100"/>
            <a:ext cx="78009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1A2230"/>
                </a:solidFill>
                <a:latin typeface="Source Han Sans"/>
                <a:ea typeface="Source Han Sans"/>
              </a:rPr>
              <a:t>时间注入让计费逻辑与真实等待解耦——演示</a:t>
            </a:r>
            <a:r>
              <a:rPr lang="zh-CN" sz="1200" b="1">
                <a:solidFill>
                  <a:srgbClr val="0E3F8C"/>
                </a:solidFill>
                <a:latin typeface="Source Han Sans"/>
                <a:ea typeface="Source Han Sans"/>
              </a:rPr>
              <a:t>可复现、可反复</a:t>
            </a:r>
            <a:r>
              <a:rPr lang="zh-CN" sz="1200">
                <a:solidFill>
                  <a:srgbClr val="1A2230"/>
                </a:solidFill>
                <a:latin typeface="Source Han Sans"/>
                <a:ea typeface="Source Han Sans"/>
              </a:rPr>
              <a:t>，且覆盖免费时段、跨夜间、跨天、封顶全部计费分支</a:t>
            </a:r>
            <a:endParaRPr/>
          </a:p>
        </p:txBody>
      </p:sp>
      <p:sp>
        <p:nvSpPr>
          <p:cNvPr id="78" name="" descr="{&quot;isTemplate&quot;:true,&quot;type&quot;:&quot;text&quot;}"/>
          <p:cNvSpPr txBox="1"/>
          <p:nvPr/>
        </p:nvSpPr>
        <p:spPr>
          <a:xfrm rot="0" flipH="0" flipV="0">
            <a:off x="381000" y="5791200"/>
            <a:ext cx="3419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Source Han Sans"/>
                <a:ea typeface="Source Han Sans"/>
              </a:rPr>
              <a:t>《人工智能创新开发实践》课程设计</a:t>
            </a:r>
            <a:r>
              <a:rPr lang="en-US" sz="1050">
                <a:solidFill>
                  <a:srgbClr val="8B97A8"/>
                </a:solidFill>
                <a:latin typeface="Source Han Sans"/>
                <a:ea typeface="Source Han Sans"/>
              </a:rPr>
              <a:t xml:space="preserve"> </a:t>
            </a:r>
            <a:r>
              <a:rPr lang="zh-CN" sz="1050">
                <a:solidFill>
                  <a:srgbClr val="8B97A8"/>
                </a:solidFill>
                <a:latin typeface="Source Han Sans"/>
                <a:ea typeface="Source Han Sans"/>
              </a:rPr>
              <a:t>｜</a:t>
            </a:r>
            <a:r>
              <a:rPr lang="en-US" sz="1050">
                <a:solidFill>
                  <a:srgbClr val="8B97A8"/>
                </a:solidFill>
                <a:latin typeface="Source Han Sans"/>
                <a:ea typeface="Source Han Sans"/>
              </a:rPr>
              <a:t xml:space="preserve"> </a:t>
            </a:r>
            <a:r>
              <a:rPr lang="zh-CN" sz="1050">
                <a:solidFill>
                  <a:srgbClr val="8B97A8"/>
                </a:solidFill>
                <a:latin typeface="Source Han Sans"/>
                <a:ea typeface="Source Han Sans"/>
              </a:rPr>
              <a:t>停车场管理智能体</a:t>
            </a:r>
            <a:endParaRPr/>
          </a:p>
        </p:txBody>
      </p:sp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11296650" y="5781675"/>
            <a:ext cx="5143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E4FA8"/>
                </a:solidFill>
                <a:latin typeface="Source Han Sans"/>
                <a:ea typeface="Source Han Sans"/>
              </a:rPr>
              <a:t>02 / 02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2026-10-12T15:26:29Z</dcterms:created>
  <dcterms:modified xsi:type="dcterms:W3CDTF">2026-10-12T15:26:29Z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{"AIGC":{"Label":"1","ContentProducer":"00119111010856365494821B355","ProduceID":"01a12f004e1472389dd9c777b3fdb4fd","ReservedCode1":"","ContentPropagator":"00119111010856365494821B355","PropagateID":"01a12f004e1472389dd9c777b3fdb4fd","ReservedCode2":""}}</vt:lpwstr>
  </property>
</Properties>
</file>